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fd92ddc54d4c6a" /><Relationship Type="http://schemas.openxmlformats.org/officeDocument/2006/relationships/extended-properties" Target="/docProps/app.xml" Id="R624b4ba83b7f4267" /><Relationship Type="http://schemas.openxmlformats.org/officeDocument/2006/relationships/officeDocument" Target="/ppt/presentation.xml" Id="R687d00c9a24b4b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bba1fecfae4aa9"/>
  </p:sldMasterIdLst>
  <p:notesMasterIdLst>
    <p:notesMasterId xmlns:r="http://schemas.openxmlformats.org/officeDocument/2006/relationships" r:id="R9a0cf57b63424f80"/>
  </p:notesMasterIdLst>
  <p:sldIdLst>
    <p:sldId xmlns:r="http://schemas.openxmlformats.org/officeDocument/2006/relationships" id="256" r:id="Rce79d4676126461c"/>
    <p:sldId xmlns:r="http://schemas.openxmlformats.org/officeDocument/2006/relationships" id="257" r:id="R1d7a31c4652a4b2e"/>
    <p:sldId xmlns:r="http://schemas.openxmlformats.org/officeDocument/2006/relationships" id="258" r:id="R795094944d2744bd"/>
    <p:sldId xmlns:r="http://schemas.openxmlformats.org/officeDocument/2006/relationships" id="259" r:id="R6306d8bcbc8b46c1"/>
    <p:sldId xmlns:r="http://schemas.openxmlformats.org/officeDocument/2006/relationships" id="260" r:id="Rd789d625bbe54ea3"/>
    <p:sldId xmlns:r="http://schemas.openxmlformats.org/officeDocument/2006/relationships" id="261" r:id="R2aca2efa59ee4e4f"/>
    <p:sldId xmlns:r="http://schemas.openxmlformats.org/officeDocument/2006/relationships" id="262" r:id="R86681ac8cd144636"/>
    <p:sldId xmlns:r="http://schemas.openxmlformats.org/officeDocument/2006/relationships" id="263" r:id="R810910192e694d0f"/>
    <p:sldId xmlns:r="http://schemas.openxmlformats.org/officeDocument/2006/relationships" id="264" r:id="R532b86cef96e4c7e"/>
    <p:sldId xmlns:r="http://schemas.openxmlformats.org/officeDocument/2006/relationships" id="265" r:id="Rc9798ad6926e4a14"/>
    <p:sldId xmlns:r="http://schemas.openxmlformats.org/officeDocument/2006/relationships" id="266" r:id="R4a54dd2a3d084788"/>
    <p:sldId xmlns:r="http://schemas.openxmlformats.org/officeDocument/2006/relationships" id="267" r:id="R8ba15b66888147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8e5c9c9ceb4a2b" /><Relationship Type="http://schemas.openxmlformats.org/officeDocument/2006/relationships/slideMaster" Target="/ppt/slideMasters/slideMaster1.xml" Id="Rb1bba1fecfae4aa9" /><Relationship Type="http://schemas.openxmlformats.org/officeDocument/2006/relationships/notesMaster" Target="/ppt/notesMasters/notesMaster1.xml" Id="R9a0cf57b63424f80" /><Relationship Type="http://schemas.openxmlformats.org/officeDocument/2006/relationships/presProps" Target="/ppt/presProps.xml" Id="R6f933923e2104eff" /><Relationship Type="http://schemas.openxmlformats.org/officeDocument/2006/relationships/tableStyles" Target="/ppt/tableStyles.xml" Id="R29c98758fbdf4cf5" /><Relationship Type="http://schemas.openxmlformats.org/officeDocument/2006/relationships/slide" Target="/ppt/slides/slide1.xml" Id="Rce79d4676126461c" /><Relationship Type="http://schemas.openxmlformats.org/officeDocument/2006/relationships/slide" Target="/ppt/slides/slide2.xml" Id="R1d7a31c4652a4b2e" /><Relationship Type="http://schemas.openxmlformats.org/officeDocument/2006/relationships/slide" Target="/ppt/slides/slide3.xml" Id="R795094944d2744bd" /><Relationship Type="http://schemas.openxmlformats.org/officeDocument/2006/relationships/slide" Target="/ppt/slides/slide4.xml" Id="R6306d8bcbc8b46c1" /><Relationship Type="http://schemas.openxmlformats.org/officeDocument/2006/relationships/slide" Target="/ppt/slides/slide5.xml" Id="Rd789d625bbe54ea3" /><Relationship Type="http://schemas.openxmlformats.org/officeDocument/2006/relationships/slide" Target="/ppt/slides/slide6.xml" Id="R2aca2efa59ee4e4f" /><Relationship Type="http://schemas.openxmlformats.org/officeDocument/2006/relationships/slide" Target="/ppt/slides/slide7.xml" Id="R86681ac8cd144636" /><Relationship Type="http://schemas.openxmlformats.org/officeDocument/2006/relationships/slide" Target="/ppt/slides/slide8.xml" Id="R810910192e694d0f" /><Relationship Type="http://schemas.openxmlformats.org/officeDocument/2006/relationships/slide" Target="/ppt/slides/slide9.xml" Id="R532b86cef96e4c7e" /><Relationship Type="http://schemas.openxmlformats.org/officeDocument/2006/relationships/slide" Target="/ppt/slides/slide10.xml" Id="Rc9798ad6926e4a14" /><Relationship Type="http://schemas.openxmlformats.org/officeDocument/2006/relationships/slide" Target="/ppt/slides/slide11.xml" Id="R4a54dd2a3d084788" /><Relationship Type="http://schemas.openxmlformats.org/officeDocument/2006/relationships/slide" Target="/ppt/slides/slide12.xml" Id="R8ba15b66888147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d5b2b69c9341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926fa93b6e491a" /><Relationship Type="http://schemas.openxmlformats.org/officeDocument/2006/relationships/notesMaster" Target="/ppt/notesMasters/notesMaster1.xml" Id="R3193fb819c2c4f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5d3a3d9b4c468e" /><Relationship Type="http://schemas.openxmlformats.org/officeDocument/2006/relationships/notesMaster" Target="/ppt/notesMasters/notesMaster1.xml" Id="R9e05222949dc47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8051a196c34e75" /><Relationship Type="http://schemas.openxmlformats.org/officeDocument/2006/relationships/notesMaster" Target="/ppt/notesMasters/notesMaster1.xml" Id="Re1ba5e59c29941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ab3576a2e443a3" /><Relationship Type="http://schemas.openxmlformats.org/officeDocument/2006/relationships/notesMaster" Target="/ppt/notesMasters/notesMaster1.xml" Id="Rbc632c3e2bc441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426a831a1745b6" /><Relationship Type="http://schemas.openxmlformats.org/officeDocument/2006/relationships/notesMaster" Target="/ppt/notesMasters/notesMaster1.xml" Id="Rde125073a9d34d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7493630e1a4e2c" /><Relationship Type="http://schemas.openxmlformats.org/officeDocument/2006/relationships/notesMaster" Target="/ppt/notesMasters/notesMaster1.xml" Id="Rdd6ac5dd2fef45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7e8f90b8884796" /><Relationship Type="http://schemas.openxmlformats.org/officeDocument/2006/relationships/notesMaster" Target="/ppt/notesMasters/notesMaster1.xml" Id="R80f500e4dc6943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21d0bcbd3946a4" /><Relationship Type="http://schemas.openxmlformats.org/officeDocument/2006/relationships/notesMaster" Target="/ppt/notesMasters/notesMaster1.xml" Id="R8ec225b8696a45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676625bd464475" /><Relationship Type="http://schemas.openxmlformats.org/officeDocument/2006/relationships/notesMaster" Target="/ppt/notesMasters/notesMaster1.xml" Id="R6db0db65f73b4e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191d1ed564490e" /><Relationship Type="http://schemas.openxmlformats.org/officeDocument/2006/relationships/notesMaster" Target="/ppt/notesMasters/notesMaster1.xml" Id="Rf4fe9e1ae65942a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e79b2a61d54291" /><Relationship Type="http://schemas.openxmlformats.org/officeDocument/2006/relationships/notesMaster" Target="/ppt/notesMasters/notesMaster1.xml" Id="Rfb40adfd8a3d4c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61044ed4c684bd6" /><Relationship Type="http://schemas.openxmlformats.org/officeDocument/2006/relationships/notesMaster" Target="/ppt/notesMasters/notesMaster1.xml" Id="R0cd4829c7d3843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 문서: brand.md, content-design.md. 확인한 게시물 중 정확한 좋아요 수와 게시일을 모두 확인한 후보만 순위에 포함했다. 만 단위 축약 표시 게시물은 null로 기록하고 제외했으므로, 이 목록은 전체 인기 Top 6가 아니다. 선정작보다 실제 좋아요가 많은 제외 게시물이 존재한다. 프로필에 보이지 않는 보관·삭제·제한 게시물은 확인할 수 없다. 영상 전편·캐러셀 모든 장을 분석한 것은 아니며, 도달·광고 집행·성과의 원인은 미확인이다.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확인한 게시물 중 정확한 좋아요 수와 게시일을 모두 확인한 후보만 순위에 포함했다. 만 단위 축약 표시 게시물은 null로 기록하고 제외했으므로, 이 목록은 전체 인기 Top 6가 아니다. 선정작보다 실제 좋아요가 많은 제외 게시물이 존재한다. 프로필에 보이지 않는 보관·삭제·제한 게시물은 확인할 수 없다. 영상 전편·캐러셀 모든 장을 분석한 것은 아니며, 도달·광고 집행·성과의 원인은 미확인이다.</a:t>
            </a:r>
          </a:p>
          <a:p xmlns:a="http://schemas.openxmlformats.org/drawingml/2006/main">
            <a:r>
              <a:t>{"nikerunning":{"status":"partial","note":"프로필 기간 경계 확인. 기간 내 개별 게시 시각 확인 27개. 목록에 표시된 공동 게시물 포함. 숨김·보관·삭제 게시물과 정확한 수치가 표시되지 않는 좋아요는 미확인. 상세 날짜를 확인하지 않은 더 오래된 발견 후보는 순위에서 제외."},"adidasrunning":{"status":"partial","note":"프로필 기간 경계 확인. 기간 내 개별 게시 시각 확인 67개. 목록에 표시된 공동 게시물 포함. 숨김·보관·삭제 게시물과 정확한 수치가 표시되지 않는 좋아요는 미확인. 상세 날짜를 확인하지 않은 더 오래된 발견 후보는 순위에서 제외."}}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https://www.instagram.com/adidasrunning/p/DdlQYW8DK7f/</a:t>
            </a:r>
          </a:p>
          <a:p xmlns:a="http://schemas.openxmlformats.org/drawingml/2006/main">
            <a:r>
              <a:t>확인 2026-09-29T23:53:03.767Z</a:t>
            </a:r>
          </a:p>
          <a:p xmlns:a="http://schemas.openxmlformats.org/drawingml/2006/main">
            <a:r>
              <a:t>화면 표시값 '11.7만'. 축약 표시는 정확한 정수로 환산하지 않음.</a:t>
            </a:r>
          </a:p>
          <a:p xmlns:a="http://schemas.openxmlformats.org/drawingml/2006/main">
            <a:r>
              <a:t>https://www.instagram.com/adidasrunning/p/DcYhRAzDOJA/</a:t>
            </a:r>
          </a:p>
          <a:p xmlns:a="http://schemas.openxmlformats.org/drawingml/2006/main">
            <a:r>
              <a:t>확인 2026-09-30T00:06:38.610Z</a:t>
            </a:r>
          </a:p>
          <a:p xmlns:a="http://schemas.openxmlformats.org/drawingml/2006/main">
            <a:r>
              <a:t>화면 표시값 '19.3만'. 축약 표시는 정확한 정수로 환산하지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a038</a:t>
            </a:r>
          </a:p>
          <a:p xmlns:a="http://schemas.openxmlformats.org/drawingml/2006/main">
            <a:r>
              <a:t>https://www.instagram.com/adidasrunning/p/DcdsVnXDLex/</a:t>
            </a:r>
          </a:p>
          <a:p xmlns:a="http://schemas.openxmlformats.org/drawingml/2006/main">
            <a:r>
              <a:t>확인 2026-09-30T00:06:21.114Z</a:t>
            </a:r>
          </a:p>
          <a:p xmlns:a="http://schemas.openxmlformats.org/drawingml/2006/main">
            <a:r>
              <a:t>게시 2026-08-25T12:59:08.000Z</a:t>
            </a:r>
          </a:p>
          <a:p xmlns:a="http://schemas.openxmlformats.org/drawingml/2006/main">
            <a:r>
              <a:t>관찰 Agravic Speed Ultra Evo 개발 이야기를 제품 소개와 연결합니다. 첫 장: 장비에 놓인 분홍색 신발, 청록빛과 기계 프레임의 강한 대비. 캐러셀은 첫 장, 릴스는 캡처 시점 장면만 시각 분석함.</a:t>
            </a:r>
          </a:p>
          <a:p xmlns:a="http://schemas.openxmlformats.org/drawingml/2006/main">
            <a:r>
              <a:t>확인한 게시물 중 정확한 좋아요 수와 게시일을 모두 확인한 후보만 순위에 포함했다. 만 단위 축약 표시 게시물은 null로 기록하고 제외했으므로, 이 목록은 전체 인기 Top 6가 아니다. 선정작보다 실제 좋아요가 많은 제외 게시물이 존재한다. 프로필에 보이지 않는 보관·삭제·제한 게시물은 확인할 수 없다. 영상 전편·캐러셀 모든 장을 분석한 것은 아니며, 도달·광고 집행·성과의 원인은 미확인이다.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n027</a:t>
            </a:r>
          </a:p>
          <a:p xmlns:a="http://schemas.openxmlformats.org/drawingml/2006/main">
            <a:r>
              <a:t>https://www.instagram.com/nikerunning/p/DaZjf1jlbby/</a:t>
            </a:r>
          </a:p>
          <a:p xmlns:a="http://schemas.openxmlformats.org/drawingml/2006/main">
            <a:r>
              <a:t>확인 2026-09-29T23:52:10.918Z</a:t>
            </a:r>
          </a:p>
          <a:p xmlns:a="http://schemas.openxmlformats.org/drawingml/2006/main">
            <a:r>
              <a:t>게시 2026-07-05T05:22:08.000Z</a:t>
            </a:r>
          </a:p>
          <a:p xmlns:a="http://schemas.openxmlformats.org/drawingml/2006/main">
            <a:r>
              <a:t>관찰 Pre Classic 선수들의 경기 결과를 사진과 선수명 중심으로 소개합니다. 첫 장: 모래에 착지하는 선수의 풀 사진, 큰 흰색 이름과 작은 종목명. 캐러셀은 첫 장, 릴스는 캡처 시점 장면만 시각 분석함.</a:t>
            </a:r>
          </a:p>
          <a:p xmlns:a="http://schemas.openxmlformats.org/drawingml/2006/main">
            <a:r>
              <a:t>확인한 게시물 중 정확한 좋아요 수와 게시일을 모두 확인한 후보만 순위에 포함했다. 만 단위 축약 표시 게시물은 null로 기록하고 제외했으므로, 이 목록은 전체 인기 Top 6가 아니다. 선정작보다 실제 좋아요가 많은 제외 게시물이 존재한다. 프로필에 보이지 않는 보관·삭제·제한 게시물은 확인할 수 없다. 영상 전편·캐러셀 모든 장을 분석한 것은 아니며, 도달·광고 집행·성과의 원인은 미확인이다.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a023</a:t>
            </a:r>
          </a:p>
          <a:p xmlns:a="http://schemas.openxmlformats.org/drawingml/2006/main">
            <a:r>
              <a:t>https://www.instagram.com/adidasrunning/p/DdgQbnSjCBY/</a:t>
            </a:r>
          </a:p>
          <a:p xmlns:a="http://schemas.openxmlformats.org/drawingml/2006/main">
            <a:r>
              <a:t>확인 2026-09-29T23:54:29.465Z</a:t>
            </a:r>
          </a:p>
          <a:p xmlns:a="http://schemas.openxmlformats.org/drawingml/2006/main">
            <a:r>
              <a:t>게시 2026-09-20T09:24:24.000Z</a:t>
            </a:r>
          </a:p>
          <a:p xmlns:a="http://schemas.openxmlformats.org/drawingml/2006/main">
            <a:r>
              <a:t>관찰 캡션은 Agnes Ngetich의 하프마라톤 기록 소식을 전합니다. 얼굴과 두 손을 크게 크롭한 사진, 넓은 자간의 흰색 세리프 제목. 캐러셀은 첫 장, 릴스는 캡처 시점 장면만 시각 분석함.</a:t>
            </a:r>
          </a:p>
          <a:p xmlns:a="http://schemas.openxmlformats.org/drawingml/2006/main">
            <a:r>
              <a:t>확인한 게시물 중 정확한 좋아요 수와 게시일을 모두 확인한 후보만 순위에 포함했다. 만 단위 축약 표시 게시물은 null로 기록하고 제외했으므로, 이 목록은 전체 인기 Top 6가 아니다. 선정작보다 실제 좋아요가 많은 제외 게시물이 존재한다. 프로필에 보이지 않는 보관·삭제·제한 게시물은 확인할 수 없다. 영상 전편·캐러셀 모든 장을 분석한 것은 아니며, 도달·광고 집행·성과의 원인은 미확인이다.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a011</a:t>
            </a:r>
          </a:p>
          <a:p xmlns:a="http://schemas.openxmlformats.org/drawingml/2006/main">
            <a:r>
              <a:t>https://www.instagram.com/adidasrunning/p/DdwfExQDHzk/</a:t>
            </a:r>
          </a:p>
          <a:p xmlns:a="http://schemas.openxmlformats.org/drawingml/2006/main">
            <a:r>
              <a:t>확인 2026-09-29T23:53:40.019Z</a:t>
            </a:r>
          </a:p>
          <a:p xmlns:a="http://schemas.openxmlformats.org/drawingml/2006/main">
            <a:r>
              <a:t>게시 2026-09-26T16:40:12.000Z</a:t>
            </a:r>
          </a:p>
          <a:p xmlns:a="http://schemas.openxmlformats.org/drawingml/2006/main">
            <a:r>
              <a:t>관찰 베를린 Home of Fast 전시 공간과 제품을 소개합니다. 분홍·파랑 공간 속 붉은 신발 한 켤레, 중앙 진열대와 위쪽 로고. 캐러셀은 첫 장, 릴스는 캡처 시점 장면만 시각 분석함.</a:t>
            </a:r>
          </a:p>
          <a:p xmlns:a="http://schemas.openxmlformats.org/drawingml/2006/main">
            <a:r>
              <a:t>확인한 게시물 중 정확한 좋아요 수와 게시일을 모두 확인한 후보만 순위에 포함했다. 만 단위 축약 표시 게시물은 null로 기록하고 제외했으므로, 이 목록은 전체 인기 Top 6가 아니다. 선정작보다 실제 좋아요가 많은 제외 게시물이 존재한다. 프로필에 보이지 않는 보관·삭제·제한 게시물은 확인할 수 없다. 영상 전편·캐러셀 모든 장을 분석한 것은 아니며, 도달·광고 집행·성과의 원인은 미확인이다.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a016</a:t>
            </a:r>
          </a:p>
          <a:p xmlns:a="http://schemas.openxmlformats.org/drawingml/2006/main">
            <a:r>
              <a:t>https://www.instagram.com/adidasrunning/reel/DdqgtSCsM7Y/</a:t>
            </a:r>
          </a:p>
          <a:p xmlns:a="http://schemas.openxmlformats.org/drawingml/2006/main">
            <a:r>
              <a:t>확인 2026-09-29T23:54:03.287Z</a:t>
            </a:r>
          </a:p>
          <a:p xmlns:a="http://schemas.openxmlformats.org/drawingml/2006/main">
            <a:r>
              <a:t>게시 2026-09-24T09:00:07.000Z</a:t>
            </a:r>
          </a:p>
          <a:p xmlns:a="http://schemas.openxmlformats.org/drawingml/2006/main">
            <a:r>
              <a:t>관찰 Adios Pro 5의 세부 요소를 강조하는 제품 릴스입니다. 확인한 장면: 밝은 배경 위 손과 신발 안쪽의 근접 촬영. 캐러셀은 첫 장, 릴스는 캡처 시점 장면만 시각 분석함.</a:t>
            </a:r>
          </a:p>
          <a:p xmlns:a="http://schemas.openxmlformats.org/drawingml/2006/main">
            <a:r>
              <a:t>확인한 게시물 중 정확한 좋아요 수와 게시일을 모두 확인한 후보만 순위에 포함했다. 만 단위 축약 표시 게시물은 null로 기록하고 제외했으므로, 이 목록은 전체 인기 Top 6가 아니다. 선정작보다 실제 좋아요가 많은 제외 게시물이 존재한다. 프로필에 보이지 않는 보관·삭제·제한 게시물은 확인할 수 없다. 영상 전편·캐러셀 모든 장을 분석한 것은 아니며, 도달·광고 집행·성과의 원인은 미확인이다.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a060</a:t>
            </a:r>
          </a:p>
          <a:p xmlns:a="http://schemas.openxmlformats.org/drawingml/2006/main">
            <a:r>
              <a:t>https://www.instagram.com/adidasrunning/p/DbDKXpTjKdr/</a:t>
            </a:r>
          </a:p>
          <a:p xmlns:a="http://schemas.openxmlformats.org/drawingml/2006/main">
            <a:r>
              <a:t>확인 2026-09-30T00:07:46.413Z</a:t>
            </a:r>
          </a:p>
          <a:p xmlns:a="http://schemas.openxmlformats.org/drawingml/2006/main">
            <a:r>
              <a:t>게시 2026-07-21T09:10:40.000Z</a:t>
            </a:r>
          </a:p>
          <a:p xmlns:a="http://schemas.openxmlformats.org/drawingml/2006/main">
            <a:r>
              <a:t>관찰 LA 러닝 장면을 엽서 형식으로 묶어 Hyperboost 제품군을 소개합니다. 첫 장: 하늘을 배경으로 올려다본 러너, 전경의 신발과 상단의 도시명. 캐러셀은 첫 장, 릴스는 캡처 시점 장면만 시각 분석함.</a:t>
            </a:r>
          </a:p>
          <a:p xmlns:a="http://schemas.openxmlformats.org/drawingml/2006/main">
            <a:r>
              <a:t>확인한 게시물 중 정확한 좋아요 수와 게시일을 모두 확인한 후보만 순위에 포함했다. 만 단위 축약 표시 게시물은 null로 기록하고 제외했으므로, 이 목록은 전체 인기 Top 6가 아니다. 선정작보다 실제 좋아요가 많은 제외 게시물이 존재한다. 프로필에 보이지 않는 보관·삭제·제한 게시물은 확인할 수 없다. 영상 전편·캐러셀 모든 장을 분석한 것은 아니며, 도달·광고 집행·성과의 원인은 미확인이다.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Codex의 해석·기획 제안. 인과적 성과 분석 아님. 기준 문서 brand.md, content-design.md.</a:t>
            </a:r>
          </a:p>
          <a:p xmlns:a="http://schemas.openxmlformats.org/drawingml/2006/main">
            <a:r>
              <a:t>https://www.instagram.com/adidasrunning/p/DcdsVnXDLex/</a:t>
            </a:r>
          </a:p>
          <a:p xmlns:a="http://schemas.openxmlformats.org/drawingml/2006/main">
            <a:r>
              <a:t>https://www.instagram.com/nikerunning/p/DaZjf1jlbby/</a:t>
            </a:r>
          </a:p>
          <a:p xmlns:a="http://schemas.openxmlformats.org/drawingml/2006/main">
            <a:r>
              <a:t>https://www.instagram.com/adidasrunning/p/DdgQbnSjCBY/</a:t>
            </a:r>
          </a:p>
          <a:p xmlns:a="http://schemas.openxmlformats.org/drawingml/2006/main">
            <a:r>
              <a:t>https://www.instagram.com/adidasrunning/p/DdwfExQDHzk/</a:t>
            </a:r>
          </a:p>
          <a:p xmlns:a="http://schemas.openxmlformats.org/drawingml/2006/main">
            <a:r>
              <a:t>https://www.instagram.com/adidasrunning/reel/DdqgtSCsM7Y/</a:t>
            </a:r>
          </a:p>
          <a:p xmlns:a="http://schemas.openxmlformats.org/drawingml/2006/main">
            <a:r>
              <a:t>https://www.instagram.com/adidasrunning/p/DbDKXpTjKdr/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주제는 경쟁사의 성과에서 증명된 결론이 아닌 brand.md에 근거한 Codex 제안. 사용자 선택과 기획 승인은 별도.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39745b64b44e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783b1490ed4734" /><Relationship Type="http://schemas.openxmlformats.org/officeDocument/2006/relationships/slideLayout" Target="/ppt/slideLayouts/slideLayout1.xml" Id="R219334aa56a847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9334aa56a847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ac17af82143d5" /><Relationship Type="http://schemas.openxmlformats.org/officeDocument/2006/relationships/notesSlide" Target="/ppt/notesSlides/notesSlide1.xml" Id="Rf84cb407b4dc42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4a8e578904870" /><Relationship Type="http://schemas.openxmlformats.org/officeDocument/2006/relationships/notesSlide" Target="/ppt/notesSlides/notesSlide2.xml" Id="R1c65bbcec12048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186d6854b4f12" /><Relationship Type="http://schemas.openxmlformats.org/officeDocument/2006/relationships/notesSlide" Target="/ppt/notesSlides/notesSlide3.xml" Id="Rc67f9d9e27be4c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29b35a8a44ff8" /><Relationship Type="http://schemas.openxmlformats.org/officeDocument/2006/relationships/notesSlide" Target="/ppt/notesSlides/notesSlide4.xml" Id="R17ad0defc57147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5bbd8b1f146db" /><Relationship Type="http://schemas.openxmlformats.org/officeDocument/2006/relationships/image" Target="/ppt/media/image.png" Id="Rc5feea1d1a094227" /><Relationship Type="http://schemas.openxmlformats.org/officeDocument/2006/relationships/notesSlide" Target="/ppt/notesSlides/notesSlide5.xml" Id="R1cdb79571c9843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4692f028eb48a8" /><Relationship Type="http://schemas.openxmlformats.org/officeDocument/2006/relationships/image" Target="/ppt/media/image2.png" Id="R4cc75e8e140c4441" /><Relationship Type="http://schemas.openxmlformats.org/officeDocument/2006/relationships/notesSlide" Target="/ppt/notesSlides/notesSlide6.xml" Id="R0b149ee4696840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24d7e35bc45ac" /><Relationship Type="http://schemas.openxmlformats.org/officeDocument/2006/relationships/image" Target="/ppt/media/image3.png" Id="R244df5a00d254934" /><Relationship Type="http://schemas.openxmlformats.org/officeDocument/2006/relationships/notesSlide" Target="/ppt/notesSlides/notesSlide7.xml" Id="Rf443ebf7bf0a4a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734ecde1844e7" /><Relationship Type="http://schemas.openxmlformats.org/officeDocument/2006/relationships/image" Target="/ppt/media/image4.png" Id="Rfc589a242a9f4c15" /><Relationship Type="http://schemas.openxmlformats.org/officeDocument/2006/relationships/notesSlide" Target="/ppt/notesSlides/notesSlide8.xml" Id="R162f1fe925c84d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dfc45a9e74a5f" /><Relationship Type="http://schemas.openxmlformats.org/officeDocument/2006/relationships/image" Target="/ppt/media/image5.png" Id="R824b4410077047fd" /><Relationship Type="http://schemas.openxmlformats.org/officeDocument/2006/relationships/notesSlide" Target="/ppt/notesSlides/notesSlide9.xml" Id="R8adce9bfdc1e4a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e16da847b40d5" /><Relationship Type="http://schemas.openxmlformats.org/officeDocument/2006/relationships/image" Target="/ppt/media/image6.png" Id="R568bf4cf588d428f" /><Relationship Type="http://schemas.openxmlformats.org/officeDocument/2006/relationships/notesSlide" Target="/ppt/notesSlides/notesSlide10.xml" Id="R3fdd3e5336ba4d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a2682f1b4411c" /><Relationship Type="http://schemas.openxmlformats.org/officeDocument/2006/relationships/notesSlide" Target="/ppt/notesSlides/notesSlide11.xml" Id="R355edc6740f5425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a24997cdc40eb" /><Relationship Type="http://schemas.openxmlformats.org/officeDocument/2006/relationships/notesSlide" Target="/ppt/notesSlides/notesSlide12.xml" Id="R5e712b47491b44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B8A4B-2611-48D7-AD64-E9F6F57E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RESEARCH /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9DE21-88BC-468D-9892-0A95613E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함께 달리기를 말하는 방식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DD477-72B5-4D47-9AB9-A94332F9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RUNMATE / COMPETITOR RESEARCH · 2026.09.30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5DA1E-EFDD-4057-8285-5DD69FDD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B5B9A-1CFC-47CB-ADC4-A8D8F22A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716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Nike Running × adidas Running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FC1F1-2275-4D9E-AEA8-C59FE2BD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10763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최근 90일 경쟁사 조사</a:t>
            </a:r>
          </a:p>
          <a:p xmlns:a="http://schemas.openxmlformats.org/drawingml/2006/main">
            <a:pPr>
              <a:defRPr sz="22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확인한 게시물 중 정확한 좋아요 수 기준 6개 분석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522D23-C4B9-41E6-88DB-C4CB0551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95825"/>
            <a:ext cx="1076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기간  2026.07.02 08:42 — 09.30 08:42 KST</a:t>
            </a:r>
          </a:p>
          <a:p xmlns:a="http://schemas.openxmlformats.org/drawingml/2006/main">
            <a:pPr>
              <a:defRPr sz="180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방법  Aside 화면·DOM 직접 열람 / 계정 통합 순위</a:t>
            </a:r>
          </a:p>
          <a:p xmlns:a="http://schemas.openxmlformats.org/drawingml/2006/main">
            <a:pPr>
              <a:defRPr sz="180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목적  런메이트의 다음 카드뉴스 주제 선택</a:t>
            </a:r>
          </a:p>
        </p:txBody>
      </p:sp>
    </p:spTree>
    <p:extLst>
      <p:ext uri="{BB962C8B-B14F-4D97-AF65-F5344CB8AC3E}">
        <p14:creationId xmlns:p14="http://schemas.microsoft.com/office/powerpoint/2010/main" val="10481233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4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85E6A-F54F-4E1E-9FE0-2B7CDC48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READ THIS FIRST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B26BD0-A829-42A5-8A3E-28E3C7B8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이 보고서의 순위에는 한계가 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68CE5-38EE-4A24-AD39-902233B9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RUNMATE / COMPETITOR RESEARCH · 2026.09.30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95046-B06B-42EE-AAEE-457AAE72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904E26-D6C2-4CDF-8E16-02FA961E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전체 인기 Top 6로 해석하지 않습니다.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C2FBF2-DD76-4200-998D-3C5E13DF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11239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01  ‘만’ 단위 축약 수치를 정확한 정수로 바꾸지 않았습니다.</a:t>
            </a:r>
          </a:p>
          <a:p xmlns:a="http://schemas.openxmlformats.org/drawingml/2006/main">
            <a:pPr>
              <a:defRPr sz="1875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02  축약 표시 게시물은 순위에서 제외하고 출처에 따로 기록했습니다.</a:t>
            </a:r>
          </a:p>
          <a:p xmlns:a="http://schemas.openxmlformats.org/drawingml/2006/main">
            <a:pPr>
              <a:defRPr sz="1875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03  선정 목록보다 실제 좋아요가 많은 제외 게시물이 존재합니다.</a:t>
            </a:r>
          </a:p>
          <a:p xmlns:a="http://schemas.openxmlformats.org/drawingml/2006/main">
            <a:pPr>
              <a:defRPr sz="1875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04  조회수·도달·광고 집행·참여율·성과 원인은 확인되지 않았습니다.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C2BCA4-BD12-491D-83DB-B7F5432B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0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기간 내 게시 시각 확인: Nike 27개 / adidas 67개.</a:t>
            </a:r>
          </a:p>
          <a:p xmlns:a="http://schemas.openxmlformats.org/drawingml/2006/main">
            <a:pPr>
              <a:defRPr sz="157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정확한 좋아요 확인 50개에서 6개 선정. 숨김·축약 수치의 한계는 남아 있습니다.</a:t>
            </a:r>
          </a:p>
        </p:txBody>
      </p:sp>
    </p:spTree>
    <p:extLst>
      <p:ext uri="{BB962C8B-B14F-4D97-AF65-F5344CB8AC3E}">
        <p14:creationId xmlns:p14="http://schemas.microsoft.com/office/powerpoint/2010/main" val="20276949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4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F9554A-D541-45EB-ACAB-5B28306A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LIMITATION / EXAMPLES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727D9-177E-4B95-B055-5DDE32F4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큰 반응의 게시물도 순위에서 빠졌습니다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B8BD1-4578-4AEA-99A5-13BECFCA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RUNMATE / COMPETITOR RESEARCH · 2026.09.30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14B47-FB9A-4621-A158-3857B3EB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E923F-D54C-4BC2-AE31-1DCCBE37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11.7만 표시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2624C-73A1-4C55-A25B-51413E8D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95475"/>
            <a:ext cx="7191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정확한 정수 미확인 → 순위 제외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BC612-B93F-44DA-A133-8DA0BAFA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05075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a001 · adidasrunning · 게시 2026-09-22 UTC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CF622-4707-45E9-BCAF-8A234FCC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57525"/>
            <a:ext cx="1123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https://www.instagram.com/adidasrunning/p/DdlQYW8DK7f/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56B185-43E1-4AE6-90EB-B7595A7F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19.3만 표시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40EF4-D9EC-4D49-B8D7-241FCB7B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48100"/>
            <a:ext cx="7191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정확한 정수 미확인 → 순위 제외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1DF25-4F0D-4EBB-8DF5-7C052374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5770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a042 · adidasrunning · 게시 2026-08-23 UTC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104C48-1D4C-45A4-B5E5-0C09493C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1123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https://www.instagram.com/adidasrunning/p/DcYhRAzDOJA/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30188C-CDE4-49F0-8772-23FC4A2B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15025"/>
            <a:ext cx="11287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화면의 축약값을 임의 환산하지 않았습니다. 아래 선정작을 전체 인기 순위로 사용하지 마세요.</a:t>
            </a:r>
          </a:p>
        </p:txBody>
      </p:sp>
    </p:spTree>
    <p:extLst>
      <p:ext uri="{BB962C8B-B14F-4D97-AF65-F5344CB8AC3E}">
        <p14:creationId xmlns:p14="http://schemas.microsoft.com/office/powerpoint/2010/main" val="19389615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204C93-FEA6-4A22-B529-7A43EE7B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OBSERVED RANKING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DE473-1B83-4D60-BE35-FDA78CE4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확인한 게시물 중 좋아요 순위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6BABC7-D9C5-41CF-91AD-F26D281D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RUNMATE / COMPETITOR RESEARCH · 2026.09.30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9081F-E928-4A0C-A208-95BB467B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9D5680-C4CD-4A81-AA2D-60619CE7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6000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DF0F4E-ADD5-4210-972A-64419E59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1809750"/>
            <a:ext cx="66198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제품의 탄생 과정을 한 장면으로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4FDCED-5831-43BC-859B-535D6EA0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838325"/>
            <a:ext cx="2019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adidasrunning · a038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4C624-515C-4DF8-BEB3-23973EC9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8097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9,799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ED944-B34A-4CDD-968E-1D67F3BD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47925"/>
            <a:ext cx="6000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5E105-7A9D-42A9-950C-6EBD8ACD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447925"/>
            <a:ext cx="66198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한 장면과 큰 이름으로 전하는 경기 결과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3D560-29F2-4055-B0F3-EFB95828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476500"/>
            <a:ext cx="2019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nikerunning · n027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DDC7E-0A4B-4C39-9F32-37E44222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479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9,584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1FD7D-B210-441B-9744-C7B6E473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6000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3A96E6-E442-4805-A682-04A38F27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086100"/>
            <a:ext cx="66198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기록 소식의 첫 장을 감정으로 보여주기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434DB0-697F-44E8-9351-11FFA73A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114675"/>
            <a:ext cx="2019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adidasrunning · a023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ED8F11-AFB8-4E3D-80F3-980C5CB4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861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8,806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E1D777-3B3C-46F3-A8FB-2CC40406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24275"/>
            <a:ext cx="6000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F0BC50-05D5-4943-967D-80782219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24275"/>
            <a:ext cx="66198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러닝 경험을 공간으로 보여주기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563397-ACC2-4A84-96A1-4D92E5AD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752850"/>
            <a:ext cx="2019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adidasrunning · a011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5CFFDF-29F2-4F36-B727-E095C5D6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242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8,803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C06D3A-A300-4CB9-AC31-BDB687AA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6000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E83A00-3D74-49FB-BCED-2AAF2B78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362450"/>
            <a:ext cx="66198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작은 디테일을 주인공으로 만들기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E6C746-94B2-4959-B491-6C378C5A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391025"/>
            <a:ext cx="2019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adidasrunning · a016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97AC56-43DB-46B8-9C58-09B9DC92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624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8,409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E0221A-A924-4367-B04E-D2AECFF4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00625"/>
            <a:ext cx="6000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DF4161-0D17-4AA9-B977-4B28E111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000625"/>
            <a:ext cx="66198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동네의 러닝을 엽서처럼 소개하기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71C86A-3103-4106-A476-F2F5A97C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029200"/>
            <a:ext cx="2019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adidasrunning · a060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2E6359-DCB2-4DAE-8197-0952C0F8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0006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8,363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F55D0C-2EAE-4E2A-AD39-C0E0896D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67400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조회 당시 수치 · 정확한 정수와 게시일이 확인된 후보만 비교</a:t>
            </a:r>
          </a:p>
        </p:txBody>
      </p:sp>
    </p:spTree>
    <p:extLst>
      <p:ext uri="{BB962C8B-B14F-4D97-AF65-F5344CB8AC3E}">
        <p14:creationId xmlns:p14="http://schemas.microsoft.com/office/powerpoint/2010/main" val="5082908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7AB840-6EDE-4EF9-833C-F5547069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POST 01 / A038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9F6AF-1A0E-4518-AAC8-714FF21E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제품의 탄생 과정을 한 장면으로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C0393-EF53-45E5-865C-3D764D43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RUNMATE / COMPETITOR RESEARCH · 2026.09.30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905A3E-4637-40E3-A1B9-9CA9FFE9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eea1d1a094227"/>
          <a:srcRect xmlns:a="http://schemas.openxmlformats.org/drawingml/2006/main" l="17340" t="0" r="173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3950" y="1752600"/>
            <a:ext cx="3463125" cy="43243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F9A08B-FC51-43F7-A6C7-EDF0C626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76212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관찰 · 핵심 내용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8B4C9C-23E0-4D72-98EF-101D8787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114550"/>
            <a:ext cx="7296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Agravic Speed Ultra Evo 개발 이야기를</a:t>
            </a:r>
          </a:p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제품 소개와 연결합니다.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0121B-E714-4BFF-8BDA-28A2D808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43225"/>
            <a:ext cx="7296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시각적 특징  첫 장: 장비에 놓인 분홍색 신발,</a:t>
            </a:r>
          </a:p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청록빛과 기계 프레임의 강한 대비.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10823-1886-460F-A41C-017A5205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933825"/>
            <a:ext cx="72961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해석  제품 뒤의 과정을 보여주며</a:t>
            </a:r>
          </a:p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개발 서사에 구체성을 더합니다.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BF0D5-4E8D-461D-A6E4-98FE33D0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810125"/>
            <a:ext cx="7296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활용  런메이트는 허구의 기술 대신</a:t>
            </a:r>
          </a:p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함께 달리기 전의 작은 준비를 보여줍니다.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919ACE-6506-47DD-91F4-23BDEE7A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695950"/>
            <a:ext cx="7296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adidasrunning / 좋아요 9,799 / 게시 2026-08-25 UTC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1224EE-C256-4CA4-BE73-A19ADC3B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972175"/>
            <a:ext cx="7296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확인 2026-09-30 UTC · 날짜는 원문 time 속성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49DD1D-5401-493C-8B3F-AAAD3161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0077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https://www.instagram.com/adidasrunning/p/DcdsVnXDLex/</a:t>
            </a:r>
          </a:p>
        </p:txBody>
      </p:sp>
    </p:spTree>
    <p:extLst>
      <p:ext uri="{BB962C8B-B14F-4D97-AF65-F5344CB8AC3E}">
        <p14:creationId xmlns:p14="http://schemas.microsoft.com/office/powerpoint/2010/main" val="7125497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4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DB4D93-433F-45E0-BD6D-A18074A2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POST 02 / N027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50A5F-2337-419F-8BDD-3712FF75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한 장면과 큰 이름으로 전하는 경기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D4C69-D01E-4619-8378-5E37D673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RUNMATE / COMPETITOR RESEARCH · 2026.09.30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871BC7-D801-4C97-9E41-D4FDE474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c75e8e140c4441"/>
          <a:srcRect xmlns:a="http://schemas.openxmlformats.org/drawingml/2006/main" l="17340" t="0" r="173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3950" y="1752600"/>
            <a:ext cx="3463125" cy="43243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D910F-D537-4F53-B33C-34C7DDAA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76212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관찰 · 핵심 내용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46912-1ADD-483D-AF09-876E521B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114550"/>
            <a:ext cx="7296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Pre Classic 선수들의 경기 결과를</a:t>
            </a:r>
          </a:p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사진과 선수명 중심으로 소개합니다.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FB77B-3403-401E-B6AA-7A706CAE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43225"/>
            <a:ext cx="7296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시각적 특징  첫 장: 모래에 착지하는 선수의 풀 사진,</a:t>
            </a:r>
          </a:p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큰 흰색 이름과 작은 종목명.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4BFBA8-8084-495A-9157-1B0491AF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933825"/>
            <a:ext cx="72961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해석  동작과 이름의 위계가 한눈에</a:t>
            </a:r>
          </a:p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주인공을 알아보게 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61E641-8F49-4DA8-B110-46653EF1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810125"/>
            <a:ext cx="7296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활용  승리·기록 대신 함께 달리는 장면에</a:t>
            </a:r>
          </a:p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짧은 공감 문장 하나를 배치합니다.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7AAE3F-44A8-4A40-BD60-8536E0CC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695950"/>
            <a:ext cx="7296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nikerunning / 좋아요 9,584 / 게시 2026-07-05 UTC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4F52EF-D638-4719-ACE5-D950C5A9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972175"/>
            <a:ext cx="7296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확인 2026-09-29 UTC · 날짜는 원문 time 속성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39051D-27B3-41A2-9923-8A26A3A4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0077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https://www.instagram.com/nikerunning/p/DaZjf1jlbby/</a:t>
            </a:r>
          </a:p>
        </p:txBody>
      </p:sp>
    </p:spTree>
    <p:extLst>
      <p:ext uri="{BB962C8B-B14F-4D97-AF65-F5344CB8AC3E}">
        <p14:creationId xmlns:p14="http://schemas.microsoft.com/office/powerpoint/2010/main" val="7824906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944C58-F45D-487C-8759-E36394B4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POST 03 / A023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1C0BC-3FF5-43A1-96A2-B2896D61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기록 소식의 첫 장을 감정으로 보여주기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3DE83-8884-494A-AD2B-86E878BE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RUNMATE / COMPETITOR RESEARCH · 2026.09.30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ACDEB-309E-4041-AFD7-15CABDA0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4df5a00d254934"/>
          <a:srcRect xmlns:a="http://schemas.openxmlformats.org/drawingml/2006/main" l="19059" t="0" r="190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5085" y="1752600"/>
            <a:ext cx="3280856" cy="43243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F16C0-F533-424C-9E0B-B7A159B9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76212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관찰 · 핵심 내용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F5575-95E0-4095-AEB6-0E96F37E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114550"/>
            <a:ext cx="7296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캡션은 Agnes Ngetich의 하프마라톤</a:t>
            </a:r>
          </a:p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기록 소식을 전합니다.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06FB7-A52C-48C0-B699-623984E0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43225"/>
            <a:ext cx="7296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시각적 특징  얼굴과 두 손을 크게 크롭한 사진,</a:t>
            </a:r>
          </a:p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넓은 자간의 흰색 세리프 제목.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481CD6-D638-4BB8-988E-0D55088A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933825"/>
            <a:ext cx="72961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해석  숫자보다 인물의 표정이 먼저 보여</a:t>
            </a:r>
          </a:p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소식에 감정을 붙이는 구성입니다.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BB8124-D573-411C-B462-48FBBDC5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810125"/>
            <a:ext cx="7296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활용  완주 성과를 보장하지 않고, 함께 달린</a:t>
            </a:r>
          </a:p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뒤 웃는 순간을 새 사진으로 보여줍니다.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2ACCFF-D871-48C1-B29B-0C05FD0D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695950"/>
            <a:ext cx="7296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adidasrunning / 좋아요 8,806 / 게시 2026-09-20 UTC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37DF61-3EAF-41F5-96B9-6573F261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972175"/>
            <a:ext cx="7296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확인 2026-09-29 UTC · 날짜는 원문 time 속성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621582-293F-4177-BB1B-D2EE7BB3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0077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https://www.instagram.com/adidasrunning/p/DdgQbnSjCBY/</a:t>
            </a:r>
          </a:p>
        </p:txBody>
      </p:sp>
    </p:spTree>
    <p:extLst>
      <p:ext uri="{BB962C8B-B14F-4D97-AF65-F5344CB8AC3E}">
        <p14:creationId xmlns:p14="http://schemas.microsoft.com/office/powerpoint/2010/main" val="19618006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777832-2752-41D8-AEFE-F9A3B5C2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POST 04 / A011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D9582-BEA9-4218-B050-6A006E79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러닝 경험을 공간으로 보여주기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1EE7B8-C77C-47A3-9472-05F148B9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RUNMATE / COMPETITOR RESEARCH · 2026.09.30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10915-58CE-408C-A90E-8A2CD61C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589a242a9f4c15"/>
          <a:srcRect xmlns:a="http://schemas.openxmlformats.org/drawingml/2006/main" l="19402" t="0" r="194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3312" y="1752600"/>
            <a:ext cx="3244402" cy="43243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E47B0-2D06-4FDF-BD51-2EDE484C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76212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관찰 · 핵심 내용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16C0BE-9FEB-4C5D-9C7B-704A94D2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114550"/>
            <a:ext cx="7296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베를린 Home of Fast 전시 공간과</a:t>
            </a:r>
          </a:p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제품을 소개합니다.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8303C2-A56F-4432-B57B-57E607B0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43225"/>
            <a:ext cx="7296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시각적 특징  분홍·파랑 공간 속 붉은 신발 한 켤레,</a:t>
            </a:r>
          </a:p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중앙 진열대와 위쪽 로고.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ABAFC2-AB4B-48E3-ABEF-AAB859F9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933825"/>
            <a:ext cx="72961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해석  공간 전체의 색과 중심 피사체가</a:t>
            </a:r>
          </a:p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현장에 들어온 느낌을 만듭니다.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A5D8FB-07A1-4E84-BD71-4B3C2C64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810125"/>
            <a:ext cx="7296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활용  동네 러닝 장소가 보이는 넓은 장면을</a:t>
            </a:r>
          </a:p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쓰되, 실제 운영 장소처럼 주장하지 않습니다.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F02C9C-B599-4261-94C2-E17485A0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695950"/>
            <a:ext cx="7296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adidasrunning / 좋아요 8,803 / 게시 2026-09-26 UTC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BC47B3-1C09-49FD-9EEF-7039D484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972175"/>
            <a:ext cx="7296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확인 2026-09-29 UTC · 날짜는 원문 time 속성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A56B1D-92CB-4DCE-BF49-9028DA1B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0077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https://www.instagram.com/adidasrunning/p/DdwfExQDHzk/</a:t>
            </a:r>
          </a:p>
        </p:txBody>
      </p:sp>
    </p:spTree>
    <p:extLst>
      <p:ext uri="{BB962C8B-B14F-4D97-AF65-F5344CB8AC3E}">
        <p14:creationId xmlns:p14="http://schemas.microsoft.com/office/powerpoint/2010/main" val="3780125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4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5805AF-2880-40F8-A251-2F71AB05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POST 05 / A016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032001-E80B-45F8-A0E4-A89915BC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작은 디테일을 주인공으로 만들기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57C0E-584E-4639-8934-4C5ED2C7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RUNMATE / COMPETITOR RESEARCH · 2026.09.30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60632-4294-4CDE-892B-E858CA84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4b4410077047fd"/>
          <a:srcRect xmlns:a="http://schemas.openxmlformats.org/drawingml/2006/main" l="27009" t="0" r="270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583" y="1752600"/>
            <a:ext cx="2437858" cy="43243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CC02C-BDED-4942-AFC4-A5A99F5E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76212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관찰 · 핵심 내용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708A9-8FBE-414F-857B-28CC59D7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114550"/>
            <a:ext cx="7296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Adios Pro 5의 세부 요소를</a:t>
            </a:r>
          </a:p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강조하는 제품 릴스입니다.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41FA0-596D-4C6E-B04F-C8CE8999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43225"/>
            <a:ext cx="7296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시각적 특징  확인한 장면: 밝은 배경 위 손과</a:t>
            </a:r>
          </a:p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신발 안쪽의 근접 촬영.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8785C4-6560-423B-8CAE-3945408C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933825"/>
            <a:ext cx="72961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해석  주변 정보를 덜어내 제품 디테일에</a:t>
            </a:r>
          </a:p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시선이 머물게 하는 방식입니다.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4DED5-4511-4DA7-9A3D-40A147A6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810125"/>
            <a:ext cx="7296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활용  신발·보폭의 신규 디테일 컷으로</a:t>
            </a:r>
          </a:p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편안하게 맞춰 달리는 순간을 표현합니다.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4CFD1B-14DF-4A3D-9E95-5E09BDDD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695950"/>
            <a:ext cx="7296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adidasrunning / 좋아요 8,409 / 게시 2026-09-24 UTC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4CA4E8-EF36-4918-95F7-7D366766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972175"/>
            <a:ext cx="7296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확인 2026-09-29 UTC · 날짜는 원문 time 속성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A50DA3-E03C-40D3-9823-CAB93520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0077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https://www.instagram.com/adidasrunning/reel/DdqgtSCsM7Y/</a:t>
            </a:r>
          </a:p>
        </p:txBody>
      </p:sp>
    </p:spTree>
    <p:extLst>
      <p:ext uri="{BB962C8B-B14F-4D97-AF65-F5344CB8AC3E}">
        <p14:creationId xmlns:p14="http://schemas.microsoft.com/office/powerpoint/2010/main" val="9674904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4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B7963C-C0AB-4DF0-A023-47DD9286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POST 06 / A060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0CC99-31F0-4656-BC3A-D17C5AAD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동네의 러닝을 엽서처럼 소개하기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E0EDB-8B9F-472C-AAB0-066D5088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RUNMATE / COMPETITOR RESEARCH · 2026.09.30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C5C38-1FC5-4EC4-90A0-393F321F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bf4cf588d428f"/>
          <a:srcRect xmlns:a="http://schemas.openxmlformats.org/drawingml/2006/main" l="0" t="3895" r="0" b="38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607373"/>
            <a:ext cx="3476625" cy="261480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0881DC-DE45-4CF8-9F13-A872EA2A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76212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관찰 · 핵심 내용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E6310-6383-4A10-8671-3ED145D8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114550"/>
            <a:ext cx="7296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LA 러닝 장면을 엽서 형식으로 묶어</a:t>
            </a:r>
          </a:p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Hyperboost 제품군을 소개합니다.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4D98F1-B492-45C6-8C2A-63B5197F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43225"/>
            <a:ext cx="7296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시각적 특징  첫 장: 하늘을 배경으로 올려다본 러너,</a:t>
            </a:r>
          </a:p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전경의 신발과 상단의 도시명.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61750-34C5-4A89-AF83-66CC2ED6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933825"/>
            <a:ext cx="72961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해석  장소와 관점이 제품 소개를</a:t>
            </a:r>
          </a:p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하나의 러닝 장면으로 바꿉니다.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99C774-E735-4C98-8F3C-6C24604E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810125"/>
            <a:ext cx="7296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활용  익숙한 동네와 동행의 장면을 연결하되</a:t>
            </a:r>
          </a:p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도시명·운영 지역을 임의로 붙이지 않습니다.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02D8AA-D20D-4AE8-B74B-07482A4E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695950"/>
            <a:ext cx="7296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adidasrunning / 좋아요 8,363 / 게시 2026-07-21 UTC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EB9C7-8A83-4BD4-ACB9-4C8F4A69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972175"/>
            <a:ext cx="7296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확인 2026-09-30 UTC · 날짜는 원문 time 속성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B24F46-1B0A-4E4D-B449-D7A81939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0077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https://www.instagram.com/adidasrunning/p/DbDKXpTjKdr/</a:t>
            </a:r>
          </a:p>
        </p:txBody>
      </p:sp>
    </p:spTree>
    <p:extLst>
      <p:ext uri="{BB962C8B-B14F-4D97-AF65-F5344CB8AC3E}">
        <p14:creationId xmlns:p14="http://schemas.microsoft.com/office/powerpoint/2010/main" val="7861900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4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1867F3-FD06-4A05-96E1-3519EBB3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70650-3A0E-4B2F-8B34-95DDB6CB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경쟁사의 성과보다 전달 방식을 가져옵니다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EAAD6-C742-419E-81F4-7DA959E1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RUNMATE / COMPETITOR RESEARCH · 2026.09.30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88BA6-34E3-49DD-B150-B3BCAA16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464C43-38D5-4A9A-8085-26687288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한 장면 + 한 문장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0ED32-8755-4088-81FE-5B8E1A42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선수·제품·공간을 중심에 두고 짧은 문구로 읽는 순서를 만듭니다.</a:t>
            </a:r>
          </a:p>
          <a:p xmlns:a="http://schemas.openxmlformats.org/drawingml/2006/main">
            <a:pPr>
              <a:defRPr sz="2025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런메이트에서는 평범한 동행 장면과 일상어로 전환할 수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82D8B-698C-4A4B-BCA9-30C5BEAD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48125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브랜드 기준이 사진 스타일의 우선순위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5A4B11-E4E6-424D-9201-13932F7D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33925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경쟁사의 승리·속도·제품 효능은 런메이트의 약속으로 옮기지 않습니다.</a:t>
            </a:r>
          </a:p>
          <a:p xmlns:a="http://schemas.openxmlformats.org/drawingml/2006/main">
            <a:pPr>
              <a:defRPr sz="20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신규 사진은 brand.md와 content-design.md의 편안한 동행을 따릅니다.</a:t>
            </a:r>
          </a:p>
        </p:txBody>
      </p:sp>
    </p:spTree>
    <p:extLst>
      <p:ext uri="{BB962C8B-B14F-4D97-AF65-F5344CB8AC3E}">
        <p14:creationId xmlns:p14="http://schemas.microsoft.com/office/powerpoint/2010/main" val="14365361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4C9419-3134-4339-9BA1-3CDB6E15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NEXT / SELECT A TOPIC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24752-8E39-40F9-B7F7-9608D4DD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다음 콘텐츠 주제 후보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531D8-8C75-415B-A83D-9CBF0D39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RUNMATE / COMPETITOR RESEARCH · 2026.09.30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48AF1-EC0B-401B-BCF3-00F56269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DC956-0838-47BF-A2B1-EC7C4F40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6212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01  추천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BAF4C-96F3-44B0-A0B8-083E2F5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62125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함께 달려도, 내 페이스는 그대로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6C3F3-C743-4E6E-9AC3-B56E4A9B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33625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대상: 다른 사람의 속도를 따라가는 것이 부담스러운 사람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F06FD4-E252-4CB0-812C-1C56B609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242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0495C9-70D3-4778-BEC7-85BC8E89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2420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혼자 달리기 심심한 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B393B0-71FC-4491-A033-D589EE99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95700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대상: 혼자 달리는 것이 심심한 러너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E09494-77FE-47B5-8E00-ABF6D0D2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862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D683BC-2A90-4008-8C16-6B960B10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86275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멀리 가지 않아도, 함께 달릴 수 있어요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EA9BF6-56AC-4296-87B2-93293CF4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057775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대상: 동네에서 가볍게 시작하고 싶은 사람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5D2D8-9432-4755-9E80-6342C44F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72175"/>
            <a:ext cx="1128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주제 선택 → plan.md 제시 → 기획 승인 → 신규 사진·HTML → 프리뷰 승인 → Figma</a:t>
            </a:r>
          </a:p>
        </p:txBody>
      </p:sp>
    </p:spTree>
    <p:extLst>
      <p:ext uri="{BB962C8B-B14F-4D97-AF65-F5344CB8AC3E}">
        <p14:creationId xmlns:p14="http://schemas.microsoft.com/office/powerpoint/2010/main" val="19038351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2026-09-30T00:10:57.4310000Z</dcterms:created>
  <dcterms:modified xsi:type="dcterms:W3CDTF">2026-09-30T00:10:57.4310000Z</dcterms:modified>
</coreProperties>
</file>