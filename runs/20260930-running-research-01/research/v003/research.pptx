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3e3cac569e4c63" /><Relationship Type="http://schemas.openxmlformats.org/officeDocument/2006/relationships/extended-properties" Target="/docProps/app.xml" Id="R275c994038424eb5" /><Relationship Type="http://schemas.openxmlformats.org/officeDocument/2006/relationships/officeDocument" Target="/ppt/presentation.xml" Id="R0092c37bf91f4e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4ec8f552ce45e6"/>
  </p:sldMasterIdLst>
  <p:notesMasterIdLst>
    <p:notesMasterId xmlns:r="http://schemas.openxmlformats.org/officeDocument/2006/relationships" r:id="Rbf61051e22fc421b"/>
  </p:notesMasterIdLst>
  <p:sldIdLst>
    <p:sldId xmlns:r="http://schemas.openxmlformats.org/officeDocument/2006/relationships" id="256" r:id="R2ed67dddff9343d3"/>
    <p:sldId xmlns:r="http://schemas.openxmlformats.org/officeDocument/2006/relationships" id="257" r:id="R806bc9e75b4a4307"/>
    <p:sldId xmlns:r="http://schemas.openxmlformats.org/officeDocument/2006/relationships" id="258" r:id="R075b434243d943f1"/>
    <p:sldId xmlns:r="http://schemas.openxmlformats.org/officeDocument/2006/relationships" id="259" r:id="Re9b26ef6f267489d"/>
    <p:sldId xmlns:r="http://schemas.openxmlformats.org/officeDocument/2006/relationships" id="260" r:id="R1d3a37f9d89744a4"/>
    <p:sldId xmlns:r="http://schemas.openxmlformats.org/officeDocument/2006/relationships" id="261" r:id="Ra53d5a2e82194909"/>
    <p:sldId xmlns:r="http://schemas.openxmlformats.org/officeDocument/2006/relationships" id="262" r:id="Reb8afe62cd874bfe"/>
    <p:sldId xmlns:r="http://schemas.openxmlformats.org/officeDocument/2006/relationships" id="263" r:id="R2b720c4f31f941a2"/>
    <p:sldId xmlns:r="http://schemas.openxmlformats.org/officeDocument/2006/relationships" id="264" r:id="Rad1d24cb6e6542e0"/>
    <p:sldId xmlns:r="http://schemas.openxmlformats.org/officeDocument/2006/relationships" id="265" r:id="R3473efadb99d495d"/>
    <p:sldId xmlns:r="http://schemas.openxmlformats.org/officeDocument/2006/relationships" id="266" r:id="Re6be27d55c8f4c97"/>
    <p:sldId xmlns:r="http://schemas.openxmlformats.org/officeDocument/2006/relationships" id="267" r:id="Rd3d5774d847840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b6da836b8f4fda" /><Relationship Type="http://schemas.openxmlformats.org/officeDocument/2006/relationships/slideMaster" Target="/ppt/slideMasters/slideMaster1.xml" Id="R724ec8f552ce45e6" /><Relationship Type="http://schemas.openxmlformats.org/officeDocument/2006/relationships/notesMaster" Target="/ppt/notesMasters/notesMaster1.xml" Id="Rbf61051e22fc421b" /><Relationship Type="http://schemas.openxmlformats.org/officeDocument/2006/relationships/presProps" Target="/ppt/presProps.xml" Id="Rbcb6d7712a4d47da" /><Relationship Type="http://schemas.openxmlformats.org/officeDocument/2006/relationships/tableStyles" Target="/ppt/tableStyles.xml" Id="Ra2354e01732a4b2b" /><Relationship Type="http://schemas.openxmlformats.org/officeDocument/2006/relationships/slide" Target="/ppt/slides/slide1.xml" Id="R2ed67dddff9343d3" /><Relationship Type="http://schemas.openxmlformats.org/officeDocument/2006/relationships/slide" Target="/ppt/slides/slide2.xml" Id="R806bc9e75b4a4307" /><Relationship Type="http://schemas.openxmlformats.org/officeDocument/2006/relationships/slide" Target="/ppt/slides/slide3.xml" Id="R075b434243d943f1" /><Relationship Type="http://schemas.openxmlformats.org/officeDocument/2006/relationships/slide" Target="/ppt/slides/slide4.xml" Id="Re9b26ef6f267489d" /><Relationship Type="http://schemas.openxmlformats.org/officeDocument/2006/relationships/slide" Target="/ppt/slides/slide5.xml" Id="R1d3a37f9d89744a4" /><Relationship Type="http://schemas.openxmlformats.org/officeDocument/2006/relationships/slide" Target="/ppt/slides/slide6.xml" Id="Ra53d5a2e82194909" /><Relationship Type="http://schemas.openxmlformats.org/officeDocument/2006/relationships/slide" Target="/ppt/slides/slide7.xml" Id="Reb8afe62cd874bfe" /><Relationship Type="http://schemas.openxmlformats.org/officeDocument/2006/relationships/slide" Target="/ppt/slides/slide8.xml" Id="R2b720c4f31f941a2" /><Relationship Type="http://schemas.openxmlformats.org/officeDocument/2006/relationships/slide" Target="/ppt/slides/slide9.xml" Id="Rad1d24cb6e6542e0" /><Relationship Type="http://schemas.openxmlformats.org/officeDocument/2006/relationships/slide" Target="/ppt/slides/slide10.xml" Id="R3473efadb99d495d" /><Relationship Type="http://schemas.openxmlformats.org/officeDocument/2006/relationships/slide" Target="/ppt/slides/slide11.xml" Id="Re6be27d55c8f4c97" /><Relationship Type="http://schemas.openxmlformats.org/officeDocument/2006/relationships/slide" Target="/ppt/slides/slide12.xml" Id="Rd3d5774d847840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216bacdfb545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a2305f259e4569" /><Relationship Type="http://schemas.openxmlformats.org/officeDocument/2006/relationships/notesMaster" Target="/ppt/notesMasters/notesMaster1.xml" Id="R62a47e4233534d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afb6f8c7934133" /><Relationship Type="http://schemas.openxmlformats.org/officeDocument/2006/relationships/notesMaster" Target="/ppt/notesMasters/notesMaster1.xml" Id="R3b9c01cc62cd47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5c196213cb4a56" /><Relationship Type="http://schemas.openxmlformats.org/officeDocument/2006/relationships/notesMaster" Target="/ppt/notesMasters/notesMaster1.xml" Id="R77363b19c3b242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efade70ee64aa0" /><Relationship Type="http://schemas.openxmlformats.org/officeDocument/2006/relationships/notesMaster" Target="/ppt/notesMasters/notesMaster1.xml" Id="R9e3fd2baf5f340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d3630ad94c4821" /><Relationship Type="http://schemas.openxmlformats.org/officeDocument/2006/relationships/notesMaster" Target="/ppt/notesMasters/notesMaster1.xml" Id="Ra1b16b711ddd45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d82fa529da4c0a" /><Relationship Type="http://schemas.openxmlformats.org/officeDocument/2006/relationships/notesMaster" Target="/ppt/notesMasters/notesMaster1.xml" Id="Rbddb7b40388c4f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d069ef7e9e4dd3" /><Relationship Type="http://schemas.openxmlformats.org/officeDocument/2006/relationships/notesMaster" Target="/ppt/notesMasters/notesMaster1.xml" Id="R03351e361d9a4d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135d2582194f8a" /><Relationship Type="http://schemas.openxmlformats.org/officeDocument/2006/relationships/notesMaster" Target="/ppt/notesMasters/notesMaster1.xml" Id="R2ca07bb6f5f84a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0f8a9f0de4459a" /><Relationship Type="http://schemas.openxmlformats.org/officeDocument/2006/relationships/notesMaster" Target="/ppt/notesMasters/notesMaster1.xml" Id="R93c6b215ca5e45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f5cbc483094eac" /><Relationship Type="http://schemas.openxmlformats.org/officeDocument/2006/relationships/notesMaster" Target="/ppt/notesMasters/notesMaster1.xml" Id="Re36df0ae72ff4b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cd8383e6f44827" /><Relationship Type="http://schemas.openxmlformats.org/officeDocument/2006/relationships/notesMaster" Target="/ppt/notesMasters/notesMaster1.xml" Id="R918093417ed340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8280c3833e4dfd" /><Relationship Type="http://schemas.openxmlformats.org/officeDocument/2006/relationships/notesMaster" Target="/ppt/notesMasters/notesMaster1.xml" Id="R33df9f59434542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 문서: brand.md, content-design.md. 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  <a:p xmlns:a="http://schemas.openxmlformats.org/drawingml/2006/main">
            <a:r>
              <a:t>{"nikerunning":{"status":"partial","note":"프로필 기간 경계 확인. 기간 내 개별 게시 시각 확인 27개. 목록에 표시된 공동 게시물 포함. 숨김·보관·삭제 게시물과 정확한 수치가 표시되지 않는 좋아요는 미확인. 상세 날짜를 확인하지 않은 더 오래된 발견 후보는 순위에서 제외."},"adidasrunning":{"status":"partial","note":"프로필 기간 경계 확인. 기간 내 개별 게시 시각 확인 67개. 목록에 표시된 공동 게시물 포함. 숨김·보관·삭제 게시물과 정확한 수치가 표시되지 않는 좋아요는 미확인. 상세 날짜를 확인하지 않은 더 오래된 발견 후보는 순위에서 제외."}}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https://www.instagram.com/adidasrunning/p/DdlQYW8DK7f/</a:t>
            </a:r>
          </a:p>
          <a:p xmlns:a="http://schemas.openxmlformats.org/drawingml/2006/main">
            <a:r>
              <a:t>확인 2026-09-29T23:53:03.767Z</a:t>
            </a:r>
          </a:p>
          <a:p xmlns:a="http://schemas.openxmlformats.org/drawingml/2006/main">
            <a:r>
              <a:t>화면 표시값 '11.7만'. 축약 표시는 정확한 정수로 환산하지 않음.</a:t>
            </a:r>
          </a:p>
          <a:p xmlns:a="http://schemas.openxmlformats.org/drawingml/2006/main">
            <a:r>
              <a:t>https://www.instagram.com/adidasrunning/p/DcYhRAzDOJA/</a:t>
            </a:r>
          </a:p>
          <a:p xmlns:a="http://schemas.openxmlformats.org/drawingml/2006/main">
            <a:r>
              <a:t>확인 2026-09-30T00:06:38.610Z</a:t>
            </a:r>
          </a:p>
          <a:p xmlns:a="http://schemas.openxmlformats.org/drawingml/2006/main">
            <a:r>
              <a:t>화면 표시값 '19.3만'. 축약 표시는 정확한 정수로 환산하지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a038</a:t>
            </a:r>
          </a:p>
          <a:p xmlns:a="http://schemas.openxmlformats.org/drawingml/2006/main">
            <a:r>
              <a:t>https://www.instagram.com/adidasrunning/p/DcdsVnXDLex/</a:t>
            </a:r>
          </a:p>
          <a:p xmlns:a="http://schemas.openxmlformats.org/drawingml/2006/main">
            <a:r>
              <a:t>확인 2026-09-30T00:06:21.114Z</a:t>
            </a:r>
          </a:p>
          <a:p xmlns:a="http://schemas.openxmlformats.org/drawingml/2006/main">
            <a:r>
              <a:t>게시 2026-08-25T12:59:08.000Z</a:t>
            </a:r>
          </a:p>
          <a:p xmlns:a="http://schemas.openxmlformats.org/drawingml/2006/main">
            <a:r>
              <a:t>관찰 Agravic Speed Ultra Evo 개발 이야기를 제품 소개와 연결합니다. 첫 장: 장비에 놓인 분홍색 신발, 청록빛과 기계 프레임의 강한 대비.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n027</a:t>
            </a:r>
          </a:p>
          <a:p xmlns:a="http://schemas.openxmlformats.org/drawingml/2006/main">
            <a:r>
              <a:t>https://www.instagram.com/nikerunning/p/DaZjf1jlbby/</a:t>
            </a:r>
          </a:p>
          <a:p xmlns:a="http://schemas.openxmlformats.org/drawingml/2006/main">
            <a:r>
              <a:t>확인 2026-09-29T23:52:10.918Z</a:t>
            </a:r>
          </a:p>
          <a:p xmlns:a="http://schemas.openxmlformats.org/drawingml/2006/main">
            <a:r>
              <a:t>게시 2026-07-05T05:22:08.000Z</a:t>
            </a:r>
          </a:p>
          <a:p xmlns:a="http://schemas.openxmlformats.org/drawingml/2006/main">
            <a:r>
              <a:t>관찰 Pre Classic 선수들의 경기 결과를 사진과 선수명 중심으로 소개합니다. 첫 장: 모래에 착지하는 선수의 풀 사진, 큰 흰색 이름과 작은 종목명.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a023</a:t>
            </a:r>
          </a:p>
          <a:p xmlns:a="http://schemas.openxmlformats.org/drawingml/2006/main">
            <a:r>
              <a:t>https://www.instagram.com/adidasrunning/p/DdgQbnSjCBY/</a:t>
            </a:r>
          </a:p>
          <a:p xmlns:a="http://schemas.openxmlformats.org/drawingml/2006/main">
            <a:r>
              <a:t>확인 2026-09-29T23:54:29.465Z</a:t>
            </a:r>
          </a:p>
          <a:p xmlns:a="http://schemas.openxmlformats.org/drawingml/2006/main">
            <a:r>
              <a:t>게시 2026-09-20T09:24:24.000Z</a:t>
            </a:r>
          </a:p>
          <a:p xmlns:a="http://schemas.openxmlformats.org/drawingml/2006/main">
            <a:r>
              <a:t>관찰 캡션은 Agnes Ngetich의 하프마라톤 기록 소식을 전합니다. 얼굴과 두 손을 크게 크롭한 사진, 넓은 자간의 흰색 세리프 제목.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a011</a:t>
            </a:r>
          </a:p>
          <a:p xmlns:a="http://schemas.openxmlformats.org/drawingml/2006/main">
            <a:r>
              <a:t>https://www.instagram.com/adidasrunning/p/DdwfExQDHzk/</a:t>
            </a:r>
          </a:p>
          <a:p xmlns:a="http://schemas.openxmlformats.org/drawingml/2006/main">
            <a:r>
              <a:t>확인 2026-09-29T23:53:40.019Z</a:t>
            </a:r>
          </a:p>
          <a:p xmlns:a="http://schemas.openxmlformats.org/drawingml/2006/main">
            <a:r>
              <a:t>게시 2026-09-26T16:40:12.000Z</a:t>
            </a:r>
          </a:p>
          <a:p xmlns:a="http://schemas.openxmlformats.org/drawingml/2006/main">
            <a:r>
              <a:t>관찰 베를린 Home of Fast 전시 공간과 제품을 소개합니다. 분홍·파랑 공간 속 붉은 신발 한 켤레, 중앙 진열대와 위쪽 로고.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a016</a:t>
            </a:r>
          </a:p>
          <a:p xmlns:a="http://schemas.openxmlformats.org/drawingml/2006/main">
            <a:r>
              <a:t>https://www.instagram.com/adidasrunning/reel/DdqgtSCsM7Y/</a:t>
            </a:r>
          </a:p>
          <a:p xmlns:a="http://schemas.openxmlformats.org/drawingml/2006/main">
            <a:r>
              <a:t>확인 2026-09-29T23:54:03.287Z</a:t>
            </a:r>
          </a:p>
          <a:p xmlns:a="http://schemas.openxmlformats.org/drawingml/2006/main">
            <a:r>
              <a:t>게시 2026-09-24T09:00:07.000Z</a:t>
            </a:r>
          </a:p>
          <a:p xmlns:a="http://schemas.openxmlformats.org/drawingml/2006/main">
            <a:r>
              <a:t>관찰 Adios Pro 5의 세부 요소를 강조하는 제품 릴스입니다. 확인한 장면: 밝은 배경 위 손과 신발 안쪽의 근접 촬영.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a060</a:t>
            </a:r>
          </a:p>
          <a:p xmlns:a="http://schemas.openxmlformats.org/drawingml/2006/main">
            <a:r>
              <a:t>https://www.instagram.com/adidasrunning/p/DbDKXpTjKdr/</a:t>
            </a:r>
          </a:p>
          <a:p xmlns:a="http://schemas.openxmlformats.org/drawingml/2006/main">
            <a:r>
              <a:t>확인 2026-09-30T00:07:46.413Z</a:t>
            </a:r>
          </a:p>
          <a:p xmlns:a="http://schemas.openxmlformats.org/drawingml/2006/main">
            <a:r>
              <a:t>게시 2026-07-21T09:10:40.000Z</a:t>
            </a:r>
          </a:p>
          <a:p xmlns:a="http://schemas.openxmlformats.org/drawingml/2006/main">
            <a:r>
              <a:t>관찰 LA 러닝 장면을 엽서 형식으로 묶어 Hyperboost 제품군을 소개합니다. 첫 장: 하늘을 배경으로 올려다본 러너, 전경의 신발과 상단의 도시명.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Codex의 해석·기획 제안. 인과적 성과 분석 아님. 기준 문서 brand.md, content-design.md.</a:t>
            </a:r>
          </a:p>
          <a:p xmlns:a="http://schemas.openxmlformats.org/drawingml/2006/main">
            <a:r>
              <a:t>https://www.instagram.com/adidasrunning/p/DcdsVnXDLex/</a:t>
            </a:r>
          </a:p>
          <a:p xmlns:a="http://schemas.openxmlformats.org/drawingml/2006/main">
            <a:r>
              <a:t>https://www.instagram.com/nikerunning/p/DaZjf1jlbby/</a:t>
            </a:r>
          </a:p>
          <a:p xmlns:a="http://schemas.openxmlformats.org/drawingml/2006/main">
            <a:r>
              <a:t>https://www.instagram.com/adidasrunning/p/DdgQbnSjCBY/</a:t>
            </a:r>
          </a:p>
          <a:p xmlns:a="http://schemas.openxmlformats.org/drawingml/2006/main">
            <a:r>
              <a:t>https://www.instagram.com/adidasrunning/p/DdwfExQDHzk/</a:t>
            </a:r>
          </a:p>
          <a:p xmlns:a="http://schemas.openxmlformats.org/drawingml/2006/main">
            <a:r>
              <a:t>https://www.instagram.com/adidasrunning/reel/DdqgtSCsM7Y/</a:t>
            </a:r>
          </a:p>
          <a:p xmlns:a="http://schemas.openxmlformats.org/drawingml/2006/main">
            <a:r>
              <a:t>https://www.instagram.com/adidasrunning/p/DbDKXpTjKdr/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주제는 경쟁사의 성과에서 증명된 결론이 아닌 brand.md에 근거한 Codex 제안. 사용자 선택과 기획 승인은 별도.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90f80ce814c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2bed36da1b4a6c" /><Relationship Type="http://schemas.openxmlformats.org/officeDocument/2006/relationships/slideLayout" Target="/ppt/slideLayouts/slideLayout1.xml" Id="Re8d16c94aca249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d16c94aca249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5a3004b734bb5" /><Relationship Type="http://schemas.openxmlformats.org/officeDocument/2006/relationships/notesSlide" Target="/ppt/notesSlides/notesSlide1.xml" Id="R436e3133e4c047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a444635484cde" /><Relationship Type="http://schemas.openxmlformats.org/officeDocument/2006/relationships/notesSlide" Target="/ppt/notesSlides/notesSlide2.xml" Id="Rb819d96943064c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36d19c0784f16" /><Relationship Type="http://schemas.openxmlformats.org/officeDocument/2006/relationships/notesSlide" Target="/ppt/notesSlides/notesSlide3.xml" Id="Rc4453a54e4d443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347731b094202" /><Relationship Type="http://schemas.openxmlformats.org/officeDocument/2006/relationships/notesSlide" Target="/ppt/notesSlides/notesSlide4.xml" Id="Ra0dfa71e0e1349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74a05ccd24e14" /><Relationship Type="http://schemas.openxmlformats.org/officeDocument/2006/relationships/image" Target="/ppt/media/image.png" Id="Ra5225f528f484ebe" /><Relationship Type="http://schemas.openxmlformats.org/officeDocument/2006/relationships/notesSlide" Target="/ppt/notesSlides/notesSlide5.xml" Id="Re18aee07dddf46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e74b286144d33" /><Relationship Type="http://schemas.openxmlformats.org/officeDocument/2006/relationships/image" Target="/ppt/media/image2.png" Id="Reb64eb68e7d54781" /><Relationship Type="http://schemas.openxmlformats.org/officeDocument/2006/relationships/notesSlide" Target="/ppt/notesSlides/notesSlide6.xml" Id="R868f347209cd4c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16f44e2064638" /><Relationship Type="http://schemas.openxmlformats.org/officeDocument/2006/relationships/image" Target="/ppt/media/image3.png" Id="R4f2f943643744e22" /><Relationship Type="http://schemas.openxmlformats.org/officeDocument/2006/relationships/notesSlide" Target="/ppt/notesSlides/notesSlide7.xml" Id="R2cac377879b54d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19b681d5e4785" /><Relationship Type="http://schemas.openxmlformats.org/officeDocument/2006/relationships/image" Target="/ppt/media/image4.png" Id="R266dbaa29ae844da" /><Relationship Type="http://schemas.openxmlformats.org/officeDocument/2006/relationships/notesSlide" Target="/ppt/notesSlides/notesSlide8.xml" Id="Ra5a573173c5f44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c5af170ae4917" /><Relationship Type="http://schemas.openxmlformats.org/officeDocument/2006/relationships/image" Target="/ppt/media/image5.png" Id="R898fabd3fcd24241" /><Relationship Type="http://schemas.openxmlformats.org/officeDocument/2006/relationships/notesSlide" Target="/ppt/notesSlides/notesSlide9.xml" Id="Rf3053f1c6afa47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f50133fba4e4f" /><Relationship Type="http://schemas.openxmlformats.org/officeDocument/2006/relationships/image" Target="/ppt/media/image6.png" Id="Rba3060b238394ca1" /><Relationship Type="http://schemas.openxmlformats.org/officeDocument/2006/relationships/notesSlide" Target="/ppt/notesSlides/notesSlide10.xml" Id="R026861add7d240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b29b5d30f476a" /><Relationship Type="http://schemas.openxmlformats.org/officeDocument/2006/relationships/notesSlide" Target="/ppt/notesSlides/notesSlide11.xml" Id="R24f4f1d57e4447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867c764ac470c" /><Relationship Type="http://schemas.openxmlformats.org/officeDocument/2006/relationships/notesSlide" Target="/ppt/notesSlides/notesSlide12.xml" Id="Re6d7306e400348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72B99-AAE9-4E1E-842A-45845E1F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RESEARCH /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AE844-C47E-4242-8E23-188DFF73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함께 달리기를 말하는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E3D26-3A47-4B21-BF90-5774F14E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0E7D5-F168-4D22-BAC0-4418A8B8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5BAAC-FE26-45FC-8680-3A81B2F1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Nike Running × adidas Running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D1349-588B-4634-A37F-693232DF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0763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최근 90일 경쟁사 조사</a:t>
            </a:r>
          </a:p>
          <a:p xmlns:a="http://schemas.openxmlformats.org/drawingml/2006/main">
            <a:pPr>
              <a:defRPr sz="22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확인한 게시물 중 정확한 좋아요 수 기준 6개 분석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56BB5-1184-4B22-88D2-24CA62C2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95825"/>
            <a:ext cx="1076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기간  2026.07.02 08:42 — 09.30 08:42 KST</a:t>
            </a:r>
          </a:p>
          <a:p xmlns:a="http://schemas.openxmlformats.org/drawingml/2006/main">
            <a:pPr>
              <a:def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방법  Aside 화면·DOM 직접 열람 / 계정 통합 순위</a:t>
            </a:r>
          </a:p>
          <a:p xmlns:a="http://schemas.openxmlformats.org/drawingml/2006/main">
            <a:pPr>
              <a:def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목적  런메이트의 다음 카드뉴스 주제 선택</a:t>
            </a:r>
          </a:p>
        </p:txBody>
      </p:sp>
    </p:spTree>
    <p:extLst>
      <p:ext uri="{BB962C8B-B14F-4D97-AF65-F5344CB8AC3E}">
        <p14:creationId xmlns:p14="http://schemas.microsoft.com/office/powerpoint/2010/main" val="1104939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50568-CE09-44B3-9903-284877AA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READ THIS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D31D8-B924-4B67-A7A6-78DBD304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이 보고서의 순위에는 한계가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97A81-0D5E-484A-96BC-A0D9AC38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E3F65-6F67-4B46-9441-E6C39457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379DE-FC30-46DB-A7AC-DAF18C1B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전체 인기 Top 6로 해석하지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97A78-1451-48AC-9765-A0D32DDA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1239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01  ‘만’ 단위 축약 수치를 정확한 정수로 바꾸지 않았습니다.</a:t>
            </a:r>
          </a:p>
          <a:p xmlns:a="http://schemas.openxmlformats.org/drawingml/2006/main">
            <a:pPr>
              <a:def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02  축약 표시 게시물은 순위에서 제외하고 출처에 따로 기록했습니다.</a:t>
            </a:r>
          </a:p>
          <a:p xmlns:a="http://schemas.openxmlformats.org/drawingml/2006/main">
            <a:pPr>
              <a:def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03  선정 목록보다 실제 좋아요가 많은 제외 게시물이 존재합니다.</a:t>
            </a:r>
          </a:p>
          <a:p xmlns:a="http://schemas.openxmlformats.org/drawingml/2006/main">
            <a:pPr>
              <a:def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04  조회수·도달·광고 집행·참여율·성과 원인은 확인되지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B567A-85E2-4443-BEB7-2BF61F7E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기간 내 게시 시각 확인: Nike 27개 / adidas 67개.</a:t>
            </a:r>
          </a:p>
          <a:p xmlns:a="http://schemas.openxmlformats.org/drawingml/2006/main">
            <a:pPr>
              <a:def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정확한 좋아요 확인 50개에서 6개 선정. 숨김·축약 수치의 한계는 남아 있습니다.</a:t>
            </a:r>
          </a:p>
        </p:txBody>
      </p:sp>
    </p:spTree>
    <p:extLst>
      <p:ext uri="{BB962C8B-B14F-4D97-AF65-F5344CB8AC3E}">
        <p14:creationId xmlns:p14="http://schemas.microsoft.com/office/powerpoint/2010/main" val="75470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4FBBB-8268-47D5-9F44-8D4AE86A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LIMITATION /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EC8C6-C9EF-4C5C-8F57-8A3CD3BD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큰 반응의 게시물도 순위에서 빠졌습니다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271CB-490C-48D0-9377-00972EB6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F694D-4F9E-4852-97C4-E5DF43E7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B80E0-C7F3-4CF1-847C-F10B2572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11.7만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2A780-43A1-4548-B54E-D5196138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95475"/>
            <a:ext cx="7191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정확한 정수 미확인 → 순위 제외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05F8F-E920-40F3-A46D-EB398D4E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05075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a001 · adidasrunning · 게시 2026-09-22 UTC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EA51C-EDC6-46C5-B84C-BF40C234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1123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https://www.instagram.com/adidasrunning/p/DdlQYW8DK7f/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DBFB2-7A7D-4B8B-9844-DE06E550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19.3만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BF961-8729-40CB-B759-C45EC0DC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48100"/>
            <a:ext cx="7191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정확한 정수 미확인 → 순위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73F96-B30F-42C0-ADB2-040E7AD8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5770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a042 · adidasrunning · 게시 2026-08-23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26542-BEE3-4893-A93D-D8DC84BF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123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https://www.instagram.com/adidasrunning/p/DcYhRAzDOJA/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BC014-F3D1-44FE-B85B-3DC3D93B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15025"/>
            <a:ext cx="1128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화면의 축약값을 임의 환산하지 않았습니다. 아래 선정작을 전체 인기 순위로 사용하지 마세요.</a:t>
            </a:r>
          </a:p>
        </p:txBody>
      </p:sp>
    </p:spTree>
    <p:extLst>
      <p:ext uri="{BB962C8B-B14F-4D97-AF65-F5344CB8AC3E}">
        <p14:creationId xmlns:p14="http://schemas.microsoft.com/office/powerpoint/2010/main" val="79961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4ABCE2-34EC-4438-90E4-ED408DD3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OBSERVED 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ACFE1-2A85-4FA0-9851-0252B2D8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확인한 게시물 중 좋아요 순위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8DD63-B753-4491-855B-481EFEEB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78A59-006B-4FA0-856C-C988E194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E34A4-14FF-4019-B401-E80E3B9C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E389F-82DE-4D5E-9E1B-640F7971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809750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제품의 탄생 과정을 한 장면으로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FB776-3BB7-41BA-9C8F-4BB59DFC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38325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4E985-9AA4-47C7-A193-14AFDD6A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09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9,799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1A98E-0D6B-4192-9D17-5155752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EEEAB-2364-41A2-817E-7736C877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47925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한 장면과 큰 이름으로 전하는 경기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05CA6-9B36-4E77-B689-2D981008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76500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nikerunning · n027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E4DE4-AC51-426E-83FF-7BDEC657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479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9,584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1047A-01AD-4964-9191-C0738FA0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4913D-A6C7-47EC-B0C9-5AB5669E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086100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기록 소식의 첫 장을 감정으로 보여주기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A850B-BC6D-4046-A80B-F751B2BB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14675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CF12D-A999-44FF-AC19-DC745D8E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86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8,806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740A8-4543-4E17-A0DD-33D84852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4275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677F0-4DAE-4A11-B0C8-18F80617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24275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러닝 경험을 공간으로 보여주기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F1BFF-F52F-4630-83B9-33F55F63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52850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D63D4-995B-4842-A6CA-D507CEDD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242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8,803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BFA94-0F9C-4A62-9A12-F504542C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79309-2B47-4184-B42A-986447F6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62450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작은 디테일을 주인공으로 만들기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E0F8F-B562-4512-81FA-38550776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91025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18CFE-35C5-40E9-9A22-4CA0BB10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624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8,409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F41C3-51FC-4449-86E6-C41CE536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4BA264-EC5F-489D-A6D3-42E4530B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000625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동네의 러닝을 엽서처럼 소개하기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6EE77-F316-4230-B2C2-7CB2027D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29200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a060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877AA3-F2BB-44E6-953C-1396454B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006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8,363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219CAB-8A3A-4754-9B13-D5688A2E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조회 당시 수치 · 정확한 정수와 게시일이 확인된 후보만 비교</a:t>
            </a:r>
          </a:p>
        </p:txBody>
      </p:sp>
    </p:spTree>
    <p:extLst>
      <p:ext uri="{BB962C8B-B14F-4D97-AF65-F5344CB8AC3E}">
        <p14:creationId xmlns:p14="http://schemas.microsoft.com/office/powerpoint/2010/main" val="535704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1A447-B995-429C-9A1A-CB2E0C91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01 / A038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68790-11BC-4DEB-B74B-5FDE604C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제품의 탄생 과정을 한 장면으로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C1B38-ADA5-407E-95BB-CC111C67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D5B97-0ED3-4460-B2C1-0CA3414B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25f528f484ebe"/>
          <a:stretch xmlns:a="http://schemas.openxmlformats.org/drawingml/2006/main"/>
        </p:blipFill>
        <p:spPr>
          <a:xfrm xmlns:a="http://schemas.openxmlformats.org/drawingml/2006/main">
            <a:off x="463603" y="1752600"/>
            <a:ext cx="3463819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7EAFD-28F7-4888-B5FE-88FA4990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2201C-33D0-4C78-AF81-8396F16F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Agravic Speed Ultra Evo 개발 이야기를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제품 소개와 연결합니다.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69267-2B3C-4CF2-9EB8-996EFF4E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첫 장: 장비에 놓인 분홍색 신발,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청록빛과 기계 프레임의 강한 대비.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5DD4C-BE34-461D-BFCE-EF494399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제품 뒤의 과정을 보여주며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개발 서사에 구체성을 더합니다.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451D0-2ED5-470B-A6DB-99D107E0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런메이트는 허구의 기술 대신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함께 달리기 전의 작은 준비를 보여줍니다.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F2ED8-08AE-42A7-8049-B5D61534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9,799 / 게시 2026-08-25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84C36-AA15-4B7E-9F5F-13D41D10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2026-09-30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6053C-09CF-47CF-A19A-16CE27E9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https://www.instagram.com/adidasrunning/p/DcdsVnXDLex/</a:t>
            </a:r>
          </a:p>
        </p:txBody>
      </p:sp>
    </p:spTree>
    <p:extLst>
      <p:ext uri="{BB962C8B-B14F-4D97-AF65-F5344CB8AC3E}">
        <p14:creationId xmlns:p14="http://schemas.microsoft.com/office/powerpoint/2010/main" val="1856931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026A8-2B8B-406C-AD82-AA9961E9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02 / N027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CCC36-E9DE-41DD-A1D2-B0982E3A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한 장면과 큰 이름으로 전하는 경기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88750-57B7-48F6-B4F1-C0689021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39431-E234-4D0F-A0C9-B92583E1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4eb68e7d54781"/>
          <a:stretch xmlns:a="http://schemas.openxmlformats.org/drawingml/2006/main"/>
        </p:blipFill>
        <p:spPr>
          <a:xfrm xmlns:a="http://schemas.openxmlformats.org/drawingml/2006/main">
            <a:off x="463603" y="1752600"/>
            <a:ext cx="3463819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F11A7-29F4-4CA9-AF1B-4B84448F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83E90-6678-4B00-A024-67AE51F6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Pre Classic 선수들의 경기 결과를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사진과 선수명 중심으로 소개합니다.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FF485-B7E5-4B2C-88FA-CBA46F42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첫 장: 모래에 착지하는 선수의 풀 사진,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큰 흰색 이름과 작은 종목명.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7D7BC-E19C-4FE1-ABB7-98C0B387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동작과 이름의 위계가 한눈에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주인공을 알아보게 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6AE0F-9205-4CC1-A273-990038EE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승리·기록 대신 함께 달리는 장면에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짧은 공감 문장 하나를 배치합니다.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1CC2E-109E-4BFA-8B0E-62BE744C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nikerunning / 좋아요 9,584 / 게시 2026-07-05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4763A-E5C1-4015-ADDD-9C71DFA5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2026-09-29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B3692-8D76-41FA-8FDB-8D9284E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https://www.instagram.com/nikerunning/p/DaZjf1jlbby/</a:t>
            </a:r>
          </a:p>
        </p:txBody>
      </p:sp>
    </p:spTree>
    <p:extLst>
      <p:ext uri="{BB962C8B-B14F-4D97-AF65-F5344CB8AC3E}">
        <p14:creationId xmlns:p14="http://schemas.microsoft.com/office/powerpoint/2010/main" val="755530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DD750-9B12-4FFA-AF1D-46F54212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03 / A023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CFB2B-2F68-4D3F-9A9E-EF3426EA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기록 소식의 첫 장을 감정으로 보여주기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96EDB-B0F9-4DD2-9F35-3281501A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F22E9-3997-43EE-8B66-6BEE961C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f943643744e22"/>
          <a:stretch xmlns:a="http://schemas.openxmlformats.org/drawingml/2006/main"/>
        </p:blipFill>
        <p:spPr>
          <a:xfrm xmlns:a="http://schemas.openxmlformats.org/drawingml/2006/main">
            <a:off x="560345" y="1752600"/>
            <a:ext cx="3270335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2C713-92EC-4B07-AF33-8C05E1D9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BDE68-BE85-4008-A2F6-7ADF58E7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캡션은 Agnes Ngetich의 하프마라톤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기록 소식을 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FF775-A5C3-47ED-AB2C-6EA44B84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얼굴과 두 손을 크게 크롭한 사진,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넓은 자간의 흰색 세리프 제목.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A6990-38FC-4AA2-8DBC-3EF4E7BE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숫자보다 인물의 표정이 먼저 보여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소식에 감정을 붙이는 구성입니다.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FC441-FB97-4278-BFA3-60261F97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완주 성과를 보장하지 않고, 함께 달린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뒤 웃는 순간을 새 사진으로 보여줍니다.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DDCE6-A638-4C2A-8B83-F5EDD07A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8,806 / 게시 2026-09-20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7DA41-B457-4E2B-9D3F-5101A5EB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2026-09-29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BE49F-7B4B-4EF2-90A6-503664B2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https://www.instagram.com/adidasrunning/p/DdgQbnSjCBY/</a:t>
            </a:r>
          </a:p>
        </p:txBody>
      </p:sp>
    </p:spTree>
    <p:extLst>
      <p:ext uri="{BB962C8B-B14F-4D97-AF65-F5344CB8AC3E}">
        <p14:creationId xmlns:p14="http://schemas.microsoft.com/office/powerpoint/2010/main" val="475200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6D6C8-D746-4320-9C6F-D75F2A8B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04 / A011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1E565-77B3-49CF-8C5C-4F70467A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러닝 경험을 공간으로 보여주기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F62C1-E546-4059-8488-B809F7CE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ABC79-1E54-4AD7-B711-7955C840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dbaa29ae844da"/>
          <a:stretch xmlns:a="http://schemas.openxmlformats.org/drawingml/2006/main"/>
        </p:blipFill>
        <p:spPr>
          <a:xfrm xmlns:a="http://schemas.openxmlformats.org/drawingml/2006/main">
            <a:off x="572073" y="1752600"/>
            <a:ext cx="3246878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0E9C4-E439-4EBB-AF81-39381A82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4B7CB-A395-4D8C-9B6A-1E2EE118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베를린 Home of Fast 전시 공간과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제품을 소개합니다.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2CE55-7331-48F7-B50B-B2B81871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분홍·파랑 공간 속 붉은 신발 한 켤레,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중앙 진열대와 위쪽 로고.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6EFA2-C861-448F-8B72-F8531177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공간 전체의 색과 중심 피사체가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현장에 들어온 느낌을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7720E-2AB4-4580-94DD-F29F605D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동네 러닝 장소가 보이는 넓은 장면을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쓰되, 실제 운영 장소처럼 주장하지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5A216-6E02-4BEE-88DE-E24765E5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8,803 / 게시 2026-09-26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5107E-ABD9-4A4C-B0C6-8891208E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2026-09-29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96996-6673-491E-9622-4AD9D87A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https://www.instagram.com/adidasrunning/p/DdwfExQDHzk/</a:t>
            </a:r>
          </a:p>
        </p:txBody>
      </p:sp>
    </p:spTree>
    <p:extLst>
      <p:ext uri="{BB962C8B-B14F-4D97-AF65-F5344CB8AC3E}">
        <p14:creationId xmlns:p14="http://schemas.microsoft.com/office/powerpoint/2010/main" val="9621130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5D505-0DF1-428A-85C9-7A814D80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05 / A016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75593-AC16-427F-A248-8DC734EC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작은 디테일을 주인공으로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287DF-33A9-4EB9-9A16-9D7701E8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CB565-2C98-4538-8A0F-147792A3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fabd3fcd24241"/>
          <a:stretch xmlns:a="http://schemas.openxmlformats.org/drawingml/2006/main"/>
        </p:blipFill>
        <p:spPr>
          <a:xfrm xmlns:a="http://schemas.openxmlformats.org/drawingml/2006/main">
            <a:off x="979063" y="1752600"/>
            <a:ext cx="2432898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96AF8-C19A-4470-A1AF-BD76CA76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9A84B-D786-4C2A-9A53-01F8C402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Adios Pro 5의 세부 요소를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강조하는 제품 릴스입니다.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A97C2-73EA-4A6A-9731-811A6999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확인한 장면: 밝은 배경 위 손과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신발 안쪽의 근접 촬영.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D1DE3-0C83-4038-853E-EBCC5F0E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주변 정보를 덜어내 제품 디테일에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시선이 머물게 하는 방식입니다.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08DE1-A811-4F48-91EF-525FA6A8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신발·보폭의 신규 디테일 컷으로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편안하게 맞춰 달리는 순간을 표현합니다.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E9DF2-6B55-46DE-B3F9-FC9EF54A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8,409 / 게시 2026-09-24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43158-F8D5-4D98-888E-7C1064C0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2026-09-29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0D79E-1EA1-4953-9577-251AD7CF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https://www.instagram.com/adidasrunning/reel/DdqgtSCsM7Y/</a:t>
            </a:r>
          </a:p>
        </p:txBody>
      </p:sp>
    </p:spTree>
    <p:extLst>
      <p:ext uri="{BB962C8B-B14F-4D97-AF65-F5344CB8AC3E}">
        <p14:creationId xmlns:p14="http://schemas.microsoft.com/office/powerpoint/2010/main" val="543153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29DF3-70CD-4AE9-8653-2057138D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06 / A060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4B48B-7B6A-4162-8B71-51F9FE55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동네의 러닝을 엽서처럼 소개하기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D3D24-AFB2-46BF-8315-C0D4009F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757BF-A383-4B4F-BBC3-1B1417A6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060b238394ca1"/>
          <a:stretch xmlns:a="http://schemas.openxmlformats.org/drawingml/2006/main"/>
        </p:blipFill>
        <p:spPr>
          <a:xfrm xmlns:a="http://schemas.openxmlformats.org/drawingml/2006/main">
            <a:off x="457200" y="2611766"/>
            <a:ext cx="3476625" cy="260601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B449D-6A1D-44EA-ADCE-6BA553B7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E5E3A-2CCF-4F28-8CB1-2273BC04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LA 러닝 장면을 엽서 형식으로 묶어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Hyperboost 제품군을 소개합니다.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36302-F740-45A7-B11B-0907F333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첫 장: 하늘을 배경으로 올려다본 러너,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전경의 신발과 상단의 도시명.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34CB5-A567-43EE-AB1D-A7247CED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장소와 관점이 제품 소개를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하나의 러닝 장면으로 바꿉니다.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B6C84-CA16-4F70-BC32-0272B113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익숙한 동네와 동행의 장면을 연결하되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도시명·운영 지역을 임의로 붙이지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E407F-6965-4050-83D0-061B5745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8,363 / 게시 2026-07-21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07F21-C7C9-4113-91BC-DC0545B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2026-09-30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BC9D-60F4-4EA2-A878-F664172C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https://www.instagram.com/adidasrunning/p/DbDKXpTjKdr/</a:t>
            </a:r>
          </a:p>
        </p:txBody>
      </p:sp>
    </p:spTree>
    <p:extLst>
      <p:ext uri="{BB962C8B-B14F-4D97-AF65-F5344CB8AC3E}">
        <p14:creationId xmlns:p14="http://schemas.microsoft.com/office/powerpoint/2010/main" val="543974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3A0C2-40A0-44F3-8BD3-1EF7C7DF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D9D37-041B-4705-9E9B-2F7D1847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경쟁사의 성과보다 전달 방식을 가져옵니다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B77AF-DF13-41E1-97B6-577B51AB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F2BF7-65A3-4EC2-9D0C-F98EAF16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54C48-4159-4626-B1CD-8BAEE6D3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한 장면 + 한 문장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F538A-F45A-4407-A5E9-60CB91BE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선수·제품·공간을 중심에 두고 짧은 문구로 읽는 순서를 만듭니다.</a:t>
            </a:r>
          </a:p>
          <a:p xmlns:a="http://schemas.openxmlformats.org/drawingml/2006/main">
            <a:pPr>
              <a:defRPr sz="202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런메이트에서는 평범한 동행 장면과 일상어로 전환할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4832C-EDA4-422E-B46C-57145907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브랜드 기준이 사진 스타일의 우선순위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F1B1F-BC40-4CC4-9657-13ADBFDE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경쟁사의 승리·속도·제품 효능은 런메이트의 약속으로 옮기지 않습니다.</a:t>
            </a:r>
          </a:p>
          <a:p xmlns:a="http://schemas.openxmlformats.org/drawingml/2006/main">
            <a:pPr>
              <a:defRPr sz="20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신규 사진은 brand.md와 content-design.md의 편안한 동행을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270896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6A726-F3BE-4293-B5BC-79FBEB7D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NEXT / SELECT A TOPIC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FAD4A-EA43-4C64-9B98-12A0A1C6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다음 콘텐츠 주제 후보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4349E-F3DC-4BB6-895F-66DA687F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5B48B-E480-4986-9F71-6DF14FE3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685F2-30D8-4A2E-A364-8AE82811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01  추천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64909-9460-4D52-9659-648C38A5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6212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함께 달려도, 내 페이스는 그대로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A52BE-80CC-4B10-A5B4-FEA0C808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대상: 다른 사람의 속도를 따라가는 것이 부담스러운 사람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E2723-489D-4CDE-BA50-A8C10488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105A4-BB59-4DFF-A736-729D51BC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242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혼자 달리기 심심한 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DA52A-3ED1-46EC-8824-0CB2825F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57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대상: 혼자 달리는 것이 심심한 러너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8FAF7-9727-47C7-824A-2AE84685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62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83BFC-67CC-4E79-9A1B-913ABEC3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8627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멀리 가지 않아도, 함께 달릴 수 있어요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D48D4-72F4-44EC-8160-2957B08D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57775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대상: 동네에서 가볍게 시작하고 싶은 사람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E9AD7-F976-4DF1-9290-951F8C0D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72175"/>
            <a:ext cx="1128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주제 선택 → plan.md 제시 → 기획 승인 → 신규 사진·HTML → 프리뷰 승인 → Figma</a:t>
            </a:r>
          </a:p>
        </p:txBody>
      </p:sp>
    </p:spTree>
    <p:extLst>
      <p:ext uri="{BB962C8B-B14F-4D97-AF65-F5344CB8AC3E}">
        <p14:creationId xmlns:p14="http://schemas.microsoft.com/office/powerpoint/2010/main" val="1043551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2026-09-30T00:12:49.2220000Z</dcterms:created>
  <dcterms:modified xsi:type="dcterms:W3CDTF">2026-09-30T00:12:49.2220000Z</dcterms:modified>
</coreProperties>
</file>