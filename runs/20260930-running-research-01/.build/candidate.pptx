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a551a0c4704578" /><Relationship Type="http://schemas.openxmlformats.org/officeDocument/2006/relationships/extended-properties" Target="/docProps/app.xml" Id="Rf5b5715b2375486d" /><Relationship Type="http://schemas.openxmlformats.org/officeDocument/2006/relationships/officeDocument" Target="/ppt/presentation.xml" Id="Rae07b6224c7a47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f6d0634d68418e"/>
  </p:sldMasterIdLst>
  <p:notesMasterIdLst>
    <p:notesMasterId xmlns:r="http://schemas.openxmlformats.org/officeDocument/2006/relationships" r:id="R5aa79250b87449e4"/>
  </p:notesMasterIdLst>
  <p:sldIdLst>
    <p:sldId xmlns:r="http://schemas.openxmlformats.org/officeDocument/2006/relationships" id="256" r:id="R66fa70cd6f9e4af6"/>
    <p:sldId xmlns:r="http://schemas.openxmlformats.org/officeDocument/2006/relationships" id="257" r:id="R59f87cb8b09f4a74"/>
    <p:sldId xmlns:r="http://schemas.openxmlformats.org/officeDocument/2006/relationships" id="258" r:id="R5c4bcaa7399c4128"/>
    <p:sldId xmlns:r="http://schemas.openxmlformats.org/officeDocument/2006/relationships" id="259" r:id="R0f7c3df886c54472"/>
    <p:sldId xmlns:r="http://schemas.openxmlformats.org/officeDocument/2006/relationships" id="260" r:id="Rc983d05e3f8048b6"/>
    <p:sldId xmlns:r="http://schemas.openxmlformats.org/officeDocument/2006/relationships" id="261" r:id="R08c6d233dcf4478d"/>
    <p:sldId xmlns:r="http://schemas.openxmlformats.org/officeDocument/2006/relationships" id="262" r:id="R1f4c1c610d4c451a"/>
    <p:sldId xmlns:r="http://schemas.openxmlformats.org/officeDocument/2006/relationships" id="263" r:id="R8179a2d65d654f23"/>
    <p:sldId xmlns:r="http://schemas.openxmlformats.org/officeDocument/2006/relationships" id="264" r:id="R8f345ceed0714ab5"/>
    <p:sldId xmlns:r="http://schemas.openxmlformats.org/officeDocument/2006/relationships" id="265" r:id="R0c52eefb54574b4d"/>
    <p:sldId xmlns:r="http://schemas.openxmlformats.org/officeDocument/2006/relationships" id="266" r:id="R0fbd4edbe03642a1"/>
    <p:sldId xmlns:r="http://schemas.openxmlformats.org/officeDocument/2006/relationships" id="267" r:id="R6f85031e726540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a46602ad7d47b9" /><Relationship Type="http://schemas.openxmlformats.org/officeDocument/2006/relationships/slideMaster" Target="/ppt/slideMasters/slideMaster1.xml" Id="R00f6d0634d68418e" /><Relationship Type="http://schemas.openxmlformats.org/officeDocument/2006/relationships/notesMaster" Target="/ppt/notesMasters/notesMaster1.xml" Id="R5aa79250b87449e4" /><Relationship Type="http://schemas.openxmlformats.org/officeDocument/2006/relationships/presProps" Target="/ppt/presProps.xml" Id="R5f80a41fd1e04449" /><Relationship Type="http://schemas.openxmlformats.org/officeDocument/2006/relationships/tableStyles" Target="/ppt/tableStyles.xml" Id="Rbfab4fdb57ef4a2e" /><Relationship Type="http://schemas.openxmlformats.org/officeDocument/2006/relationships/slide" Target="/ppt/slides/slide1.xml" Id="R66fa70cd6f9e4af6" /><Relationship Type="http://schemas.openxmlformats.org/officeDocument/2006/relationships/slide" Target="/ppt/slides/slide2.xml" Id="R59f87cb8b09f4a74" /><Relationship Type="http://schemas.openxmlformats.org/officeDocument/2006/relationships/slide" Target="/ppt/slides/slide3.xml" Id="R5c4bcaa7399c4128" /><Relationship Type="http://schemas.openxmlformats.org/officeDocument/2006/relationships/slide" Target="/ppt/slides/slide4.xml" Id="R0f7c3df886c54472" /><Relationship Type="http://schemas.openxmlformats.org/officeDocument/2006/relationships/slide" Target="/ppt/slides/slide5.xml" Id="Rc983d05e3f8048b6" /><Relationship Type="http://schemas.openxmlformats.org/officeDocument/2006/relationships/slide" Target="/ppt/slides/slide6.xml" Id="R08c6d233dcf4478d" /><Relationship Type="http://schemas.openxmlformats.org/officeDocument/2006/relationships/slide" Target="/ppt/slides/slide7.xml" Id="R1f4c1c610d4c451a" /><Relationship Type="http://schemas.openxmlformats.org/officeDocument/2006/relationships/slide" Target="/ppt/slides/slide8.xml" Id="R8179a2d65d654f23" /><Relationship Type="http://schemas.openxmlformats.org/officeDocument/2006/relationships/slide" Target="/ppt/slides/slide9.xml" Id="R8f345ceed0714ab5" /><Relationship Type="http://schemas.openxmlformats.org/officeDocument/2006/relationships/slide" Target="/ppt/slides/slide10.xml" Id="R0c52eefb54574b4d" /><Relationship Type="http://schemas.openxmlformats.org/officeDocument/2006/relationships/slide" Target="/ppt/slides/slide11.xml" Id="R0fbd4edbe03642a1" /><Relationship Type="http://schemas.openxmlformats.org/officeDocument/2006/relationships/slide" Target="/ppt/slides/slide12.xml" Id="R6f85031e726540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02aa3af2a64a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bf2acfcebf4180" /><Relationship Type="http://schemas.openxmlformats.org/officeDocument/2006/relationships/notesMaster" Target="/ppt/notesMasters/notesMaster1.xml" Id="Rcc091b01257048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1a4767685243a8" /><Relationship Type="http://schemas.openxmlformats.org/officeDocument/2006/relationships/notesMaster" Target="/ppt/notesMasters/notesMaster1.xml" Id="Ra4d5eee5997f40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84d3115fdf4c76" /><Relationship Type="http://schemas.openxmlformats.org/officeDocument/2006/relationships/notesMaster" Target="/ppt/notesMasters/notesMaster1.xml" Id="R0ec75a792f8e4f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b325cfd867496c" /><Relationship Type="http://schemas.openxmlformats.org/officeDocument/2006/relationships/notesMaster" Target="/ppt/notesMasters/notesMaster1.xml" Id="R74ed764f340a44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033ec47f7a44b0" /><Relationship Type="http://schemas.openxmlformats.org/officeDocument/2006/relationships/notesMaster" Target="/ppt/notesMasters/notesMaster1.xml" Id="Rb8db071529e846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201f287fff427e" /><Relationship Type="http://schemas.openxmlformats.org/officeDocument/2006/relationships/notesMaster" Target="/ppt/notesMasters/notesMaster1.xml" Id="R2f10cc6530894a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642c25ef5443fc" /><Relationship Type="http://schemas.openxmlformats.org/officeDocument/2006/relationships/notesMaster" Target="/ppt/notesMasters/notesMaster1.xml" Id="R449f412a4ce84c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9d2be9c3cd4453" /><Relationship Type="http://schemas.openxmlformats.org/officeDocument/2006/relationships/notesMaster" Target="/ppt/notesMasters/notesMaster1.xml" Id="Rd3da8303d35443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659e371b0444a3" /><Relationship Type="http://schemas.openxmlformats.org/officeDocument/2006/relationships/notesMaster" Target="/ppt/notesMasters/notesMaster1.xml" Id="Rabf6fad2d6ba4e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7945c247c84737" /><Relationship Type="http://schemas.openxmlformats.org/officeDocument/2006/relationships/notesMaster" Target="/ppt/notesMasters/notesMaster1.xml" Id="R3d995d08a63c48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c294d0981c4f92" /><Relationship Type="http://schemas.openxmlformats.org/officeDocument/2006/relationships/notesMaster" Target="/ppt/notesMasters/notesMaster1.xml" Id="R380b899ccce24d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190e00785974769" /><Relationship Type="http://schemas.openxmlformats.org/officeDocument/2006/relationships/notesMaster" Target="/ppt/notesMasters/notesMaster1.xml" Id="R0c670051012346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 문서: brand.md, content-design.md. 확인한 게시물 중 정확한 좋아요 수와 게시일을 모두 확인한 후보만 순위에 포함했다. 만 단위 축약 표시 게시물은 null로 기록하고 제외했으므로, 이 목록은 전체 인기 Top 6가 아니다. 선정작보다 실제 좋아요가 많은 제외 게시물이 존재한다. 프로필에 보이지 않는 보관·삭제·제한 게시물은 확인할 수 없다. 영상 전편·캐러셀 모든 장을 분석한 것은 아니며, 도달·광고 집행·성과의 원인은 미확인이다.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확인한 게시물 중 정확한 좋아요 수와 게시일을 모두 확인한 후보만 순위에 포함했다. 만 단위 축약 표시 게시물은 null로 기록하고 제외했으므로, 이 목록은 전체 인기 Top 6가 아니다. 선정작보다 실제 좋아요가 많은 제외 게시물이 존재한다. 프로필에 보이지 않는 보관·삭제·제한 게시물은 확인할 수 없다. 영상 전편·캐러셀 모든 장을 분석한 것은 아니며, 도달·광고 집행·성과의 원인은 미확인이다.</a:t>
            </a:r>
          </a:p>
          <a:p xmlns:a="http://schemas.openxmlformats.org/drawingml/2006/main">
            <a:r>
              <a:t>{"nikerunning":{"status":"partial","note":"프로필 기간 경계 확인. 기간 내 개별 게시 시각 확인 27개. 목록에 표시된 공동 게시물 포함. 숨김·보관·삭제 게시물과 정확한 수치가 표시되지 않는 좋아요는 미확인. 상세 날짜를 확인하지 않은 더 오래된 발견 후보는 순위에서 제외."},"adidasrunning":{"status":"partial","note":"프로필 기간 경계 확인. 기간 내 개별 게시 시각 확인 67개. 목록에 표시된 공동 게시물 포함. 숨김·보관·삭제 게시물과 정확한 수치가 표시되지 않는 좋아요는 미확인. 상세 날짜를 확인하지 않은 더 오래된 발견 후보는 순위에서 제외."}}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https://www.instagram.com/adidasrunning/p/DdlQYW8DK7f/</a:t>
            </a:r>
          </a:p>
          <a:p xmlns:a="http://schemas.openxmlformats.org/drawingml/2006/main">
            <a:r>
              <a:t>확인 2026-09-29T23:53:03.767Z</a:t>
            </a:r>
          </a:p>
          <a:p xmlns:a="http://schemas.openxmlformats.org/drawingml/2006/main">
            <a:r>
              <a:t>화면 표시값 '11.7만'. 축약 표시는 정확한 정수로 환산하지 않음.</a:t>
            </a:r>
          </a:p>
          <a:p xmlns:a="http://schemas.openxmlformats.org/drawingml/2006/main">
            <a:r>
              <a:t>https://www.instagram.com/adidasrunning/p/DcYhRAzDOJA/</a:t>
            </a:r>
          </a:p>
          <a:p xmlns:a="http://schemas.openxmlformats.org/drawingml/2006/main">
            <a:r>
              <a:t>확인 2026-09-30T00:06:38.610Z</a:t>
            </a:r>
          </a:p>
          <a:p xmlns:a="http://schemas.openxmlformats.org/drawingml/2006/main">
            <a:r>
              <a:t>화면 표시값 '19.3만'. 축약 표시는 정확한 정수로 환산하지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a038</a:t>
            </a:r>
          </a:p>
          <a:p xmlns:a="http://schemas.openxmlformats.org/drawingml/2006/main">
            <a:r>
              <a:t>https://www.instagram.com/adidasrunning/p/DcdsVnXDLex/</a:t>
            </a:r>
          </a:p>
          <a:p xmlns:a="http://schemas.openxmlformats.org/drawingml/2006/main">
            <a:r>
              <a:t>확인 2026-09-30T00:06:21.114Z</a:t>
            </a:r>
          </a:p>
          <a:p xmlns:a="http://schemas.openxmlformats.org/drawingml/2006/main">
            <a:r>
              <a:t>게시 2026-08-25T12:59:08.000Z</a:t>
            </a:r>
          </a:p>
          <a:p xmlns:a="http://schemas.openxmlformats.org/drawingml/2006/main">
            <a:r>
              <a:t>관찰 Agravic Speed Ultra Evo 개발 이야기를 제품 소개와 연결합니다. 첫 장: 장비에 놓인 분홍색 신발, 청록빛과 기계 프레임의 강한 대비. 캐러셀은 첫 장, 릴스는 캡처 시점 장면만 시각 분석함.</a:t>
            </a:r>
          </a:p>
          <a:p xmlns:a="http://schemas.openxmlformats.org/drawingml/2006/main">
            <a:r>
              <a:t>확인한 게시물 중 정확한 좋아요 수와 게시일을 모두 확인한 후보만 순위에 포함했다. 만 단위 축약 표시 게시물은 null로 기록하고 제외했으므로, 이 목록은 전체 인기 Top 6가 아니다. 선정작보다 실제 좋아요가 많은 제외 게시물이 존재한다. 프로필에 보이지 않는 보관·삭제·제한 게시물은 확인할 수 없다. 영상 전편·캐러셀 모든 장을 분석한 것은 아니며, 도달·광고 집행·성과의 원인은 미확인이다.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n027</a:t>
            </a:r>
          </a:p>
          <a:p xmlns:a="http://schemas.openxmlformats.org/drawingml/2006/main">
            <a:r>
              <a:t>https://www.instagram.com/nikerunning/p/DaZjf1jlbby/</a:t>
            </a:r>
          </a:p>
          <a:p xmlns:a="http://schemas.openxmlformats.org/drawingml/2006/main">
            <a:r>
              <a:t>확인 2026-09-29T23:52:10.918Z</a:t>
            </a:r>
          </a:p>
          <a:p xmlns:a="http://schemas.openxmlformats.org/drawingml/2006/main">
            <a:r>
              <a:t>게시 2026-07-05T05:22:08.000Z</a:t>
            </a:r>
          </a:p>
          <a:p xmlns:a="http://schemas.openxmlformats.org/drawingml/2006/main">
            <a:r>
              <a:t>관찰 Pre Classic 선수들의 경기 결과를 사진과 선수명 중심으로 소개합니다. 첫 장: 모래에 착지하는 선수의 풀 사진, 큰 흰색 이름과 작은 종목명. 캐러셀은 첫 장, 릴스는 캡처 시점 장면만 시각 분석함.</a:t>
            </a:r>
          </a:p>
          <a:p xmlns:a="http://schemas.openxmlformats.org/drawingml/2006/main">
            <a:r>
              <a:t>확인한 게시물 중 정확한 좋아요 수와 게시일을 모두 확인한 후보만 순위에 포함했다. 만 단위 축약 표시 게시물은 null로 기록하고 제외했으므로, 이 목록은 전체 인기 Top 6가 아니다. 선정작보다 실제 좋아요가 많은 제외 게시물이 존재한다. 프로필에 보이지 않는 보관·삭제·제한 게시물은 확인할 수 없다. 영상 전편·캐러셀 모든 장을 분석한 것은 아니며, 도달·광고 집행·성과의 원인은 미확인이다.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a023</a:t>
            </a:r>
          </a:p>
          <a:p xmlns:a="http://schemas.openxmlformats.org/drawingml/2006/main">
            <a:r>
              <a:t>https://www.instagram.com/adidasrunning/p/DdgQbnSjCBY/</a:t>
            </a:r>
          </a:p>
          <a:p xmlns:a="http://schemas.openxmlformats.org/drawingml/2006/main">
            <a:r>
              <a:t>확인 2026-09-29T23:54:29.465Z</a:t>
            </a:r>
          </a:p>
          <a:p xmlns:a="http://schemas.openxmlformats.org/drawingml/2006/main">
            <a:r>
              <a:t>게시 2026-09-20T09:24:24.000Z</a:t>
            </a:r>
          </a:p>
          <a:p xmlns:a="http://schemas.openxmlformats.org/drawingml/2006/main">
            <a:r>
              <a:t>관찰 캡션은 Agnes Ngetich의 하프마라톤 기록 소식을 전합니다. 얼굴과 두 손을 크게 크롭한 사진, 넓은 자간의 흰색 세리프 제목. 캐러셀은 첫 장, 릴스는 캡처 시점 장면만 시각 분석함.</a:t>
            </a:r>
          </a:p>
          <a:p xmlns:a="http://schemas.openxmlformats.org/drawingml/2006/main">
            <a:r>
              <a:t>확인한 게시물 중 정확한 좋아요 수와 게시일을 모두 확인한 후보만 순위에 포함했다. 만 단위 축약 표시 게시물은 null로 기록하고 제외했으므로, 이 목록은 전체 인기 Top 6가 아니다. 선정작보다 실제 좋아요가 많은 제외 게시물이 존재한다. 프로필에 보이지 않는 보관·삭제·제한 게시물은 확인할 수 없다. 영상 전편·캐러셀 모든 장을 분석한 것은 아니며, 도달·광고 집행·성과의 원인은 미확인이다.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a011</a:t>
            </a:r>
          </a:p>
          <a:p xmlns:a="http://schemas.openxmlformats.org/drawingml/2006/main">
            <a:r>
              <a:t>https://www.instagram.com/adidasrunning/p/DdwfExQDHzk/</a:t>
            </a:r>
          </a:p>
          <a:p xmlns:a="http://schemas.openxmlformats.org/drawingml/2006/main">
            <a:r>
              <a:t>확인 2026-09-29T23:53:40.019Z</a:t>
            </a:r>
          </a:p>
          <a:p xmlns:a="http://schemas.openxmlformats.org/drawingml/2006/main">
            <a:r>
              <a:t>게시 2026-09-26T16:40:12.000Z</a:t>
            </a:r>
          </a:p>
          <a:p xmlns:a="http://schemas.openxmlformats.org/drawingml/2006/main">
            <a:r>
              <a:t>관찰 베를린 Home of Fast 전시 공간과 제품을 소개합니다. 분홍·파랑 공간 속 붉은 신발 한 켤레, 중앙 진열대와 위쪽 로고. 캐러셀은 첫 장, 릴스는 캡처 시점 장면만 시각 분석함.</a:t>
            </a:r>
          </a:p>
          <a:p xmlns:a="http://schemas.openxmlformats.org/drawingml/2006/main">
            <a:r>
              <a:t>확인한 게시물 중 정확한 좋아요 수와 게시일을 모두 확인한 후보만 순위에 포함했다. 만 단위 축약 표시 게시물은 null로 기록하고 제외했으므로, 이 목록은 전체 인기 Top 6가 아니다. 선정작보다 실제 좋아요가 많은 제외 게시물이 존재한다. 프로필에 보이지 않는 보관·삭제·제한 게시물은 확인할 수 없다. 영상 전편·캐러셀 모든 장을 분석한 것은 아니며, 도달·광고 집행·성과의 원인은 미확인이다.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a016</a:t>
            </a:r>
          </a:p>
          <a:p xmlns:a="http://schemas.openxmlformats.org/drawingml/2006/main">
            <a:r>
              <a:t>https://www.instagram.com/adidasrunning/reel/DdqgtSCsM7Y/</a:t>
            </a:r>
          </a:p>
          <a:p xmlns:a="http://schemas.openxmlformats.org/drawingml/2006/main">
            <a:r>
              <a:t>확인 2026-09-29T23:54:03.287Z</a:t>
            </a:r>
          </a:p>
          <a:p xmlns:a="http://schemas.openxmlformats.org/drawingml/2006/main">
            <a:r>
              <a:t>게시 2026-09-24T09:00:07.000Z</a:t>
            </a:r>
          </a:p>
          <a:p xmlns:a="http://schemas.openxmlformats.org/drawingml/2006/main">
            <a:r>
              <a:t>관찰 Adios Pro 5의 세부 요소를 강조하는 제품 릴스입니다. 확인한 장면: 밝은 배경 위 손과 신발 안쪽의 근접 촬영. 캐러셀은 첫 장, 릴스는 캡처 시점 장면만 시각 분석함.</a:t>
            </a:r>
          </a:p>
          <a:p xmlns:a="http://schemas.openxmlformats.org/drawingml/2006/main">
            <a:r>
              <a:t>확인한 게시물 중 정확한 좋아요 수와 게시일을 모두 확인한 후보만 순위에 포함했다. 만 단위 축약 표시 게시물은 null로 기록하고 제외했으므로, 이 목록은 전체 인기 Top 6가 아니다. 선정작보다 실제 좋아요가 많은 제외 게시물이 존재한다. 프로필에 보이지 않는 보관·삭제·제한 게시물은 확인할 수 없다. 영상 전편·캐러셀 모든 장을 분석한 것은 아니며, 도달·광고 집행·성과의 원인은 미확인이다.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a060</a:t>
            </a:r>
          </a:p>
          <a:p xmlns:a="http://schemas.openxmlformats.org/drawingml/2006/main">
            <a:r>
              <a:t>https://www.instagram.com/adidasrunning/p/DbDKXpTjKdr/</a:t>
            </a:r>
          </a:p>
          <a:p xmlns:a="http://schemas.openxmlformats.org/drawingml/2006/main">
            <a:r>
              <a:t>확인 2026-09-30T00:07:46.413Z</a:t>
            </a:r>
          </a:p>
          <a:p xmlns:a="http://schemas.openxmlformats.org/drawingml/2006/main">
            <a:r>
              <a:t>게시 2026-07-21T09:10:40.000Z</a:t>
            </a:r>
          </a:p>
          <a:p xmlns:a="http://schemas.openxmlformats.org/drawingml/2006/main">
            <a:r>
              <a:t>관찰 LA 러닝 장면을 엽서 형식으로 묶어 Hyperboost 제품군을 소개합니다. 첫 장: 하늘을 배경으로 올려다본 러너, 전경의 신발과 상단의 도시명. 캐러셀은 첫 장, 릴스는 캡처 시점 장면만 시각 분석함.</a:t>
            </a:r>
          </a:p>
          <a:p xmlns:a="http://schemas.openxmlformats.org/drawingml/2006/main">
            <a:r>
              <a:t>확인한 게시물 중 정확한 좋아요 수와 게시일을 모두 확인한 후보만 순위에 포함했다. 만 단위 축약 표시 게시물은 null로 기록하고 제외했으므로, 이 목록은 전체 인기 Top 6가 아니다. 선정작보다 실제 좋아요가 많은 제외 게시물이 존재한다. 프로필에 보이지 않는 보관·삭제·제한 게시물은 확인할 수 없다. 영상 전편·캐러셀 모든 장을 분석한 것은 아니며, 도달·광고 집행·성과의 원인은 미확인이다.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Codex의 해석·기획 제안. 인과적 성과 분석 아님. 기준 문서 brand.md, content-design.md.</a:t>
            </a:r>
          </a:p>
          <a:p xmlns:a="http://schemas.openxmlformats.org/drawingml/2006/main">
            <a:r>
              <a:t>https://www.instagram.com/adidasrunning/p/DcdsVnXDLex/</a:t>
            </a:r>
          </a:p>
          <a:p xmlns:a="http://schemas.openxmlformats.org/drawingml/2006/main">
            <a:r>
              <a:t>https://www.instagram.com/nikerunning/p/DaZjf1jlbby/</a:t>
            </a:r>
          </a:p>
          <a:p xmlns:a="http://schemas.openxmlformats.org/drawingml/2006/main">
            <a:r>
              <a:t>https://www.instagram.com/adidasrunning/p/DdgQbnSjCBY/</a:t>
            </a:r>
          </a:p>
          <a:p xmlns:a="http://schemas.openxmlformats.org/drawingml/2006/main">
            <a:r>
              <a:t>https://www.instagram.com/adidasrunning/p/DdwfExQDHzk/</a:t>
            </a:r>
          </a:p>
          <a:p xmlns:a="http://schemas.openxmlformats.org/drawingml/2006/main">
            <a:r>
              <a:t>https://www.instagram.com/adidasrunning/reel/DdqgtSCsM7Y/</a:t>
            </a:r>
          </a:p>
          <a:p xmlns:a="http://schemas.openxmlformats.org/drawingml/2006/main">
            <a:r>
              <a:t>https://www.instagram.com/adidasrunning/p/DbDKXpTjKdr/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주제는 경쟁사의 성과에서 증명된 결론이 아닌 brand.md에 근거한 Codex 제안. 사용자 선택과 기획 승인은 별도.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5f38c5a1f544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e1074ea7ee4bf4" /><Relationship Type="http://schemas.openxmlformats.org/officeDocument/2006/relationships/slideLayout" Target="/ppt/slideLayouts/slideLayout1.xml" Id="Rb7df55fa3e714a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df55fa3e714a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12d4a990c4347" /><Relationship Type="http://schemas.openxmlformats.org/officeDocument/2006/relationships/notesSlide" Target="/ppt/notesSlides/notesSlide1.xml" Id="R946f4b5071154f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90e2003564d74" /><Relationship Type="http://schemas.openxmlformats.org/officeDocument/2006/relationships/notesSlide" Target="/ppt/notesSlides/notesSlide2.xml" Id="R0947e7e62bd146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4da1d9a9d4d03" /><Relationship Type="http://schemas.openxmlformats.org/officeDocument/2006/relationships/notesSlide" Target="/ppt/notesSlides/notesSlide3.xml" Id="R79bd2799573a4c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2300c2e3f4d15" /><Relationship Type="http://schemas.openxmlformats.org/officeDocument/2006/relationships/notesSlide" Target="/ppt/notesSlides/notesSlide4.xml" Id="Rac888b8788224a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da45945f6412a" /><Relationship Type="http://schemas.openxmlformats.org/officeDocument/2006/relationships/image" Target="/ppt/media/image.png" Id="R0b8efcb3a4794a59" /><Relationship Type="http://schemas.openxmlformats.org/officeDocument/2006/relationships/notesSlide" Target="/ppt/notesSlides/notesSlide5.xml" Id="Rc86767d065e844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941e52257440d" /><Relationship Type="http://schemas.openxmlformats.org/officeDocument/2006/relationships/image" Target="/ppt/media/image2.png" Id="Rcff7efb37f4c4817" /><Relationship Type="http://schemas.openxmlformats.org/officeDocument/2006/relationships/notesSlide" Target="/ppt/notesSlides/notesSlide6.xml" Id="R50344022905c4c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da37a9def418c" /><Relationship Type="http://schemas.openxmlformats.org/officeDocument/2006/relationships/image" Target="/ppt/media/image3.png" Id="Rc144544ce6414e4a" /><Relationship Type="http://schemas.openxmlformats.org/officeDocument/2006/relationships/notesSlide" Target="/ppt/notesSlides/notesSlide7.xml" Id="Ra580ad0ac3064e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15964d4344c5c" /><Relationship Type="http://schemas.openxmlformats.org/officeDocument/2006/relationships/image" Target="/ppt/media/image4.png" Id="R5ade4248feed4c1a" /><Relationship Type="http://schemas.openxmlformats.org/officeDocument/2006/relationships/notesSlide" Target="/ppt/notesSlides/notesSlide8.xml" Id="R75ddca63474a46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577af902e4c46" /><Relationship Type="http://schemas.openxmlformats.org/officeDocument/2006/relationships/image" Target="/ppt/media/image5.png" Id="Rbc0b2e6e67fa4aaf" /><Relationship Type="http://schemas.openxmlformats.org/officeDocument/2006/relationships/notesSlide" Target="/ppt/notesSlides/notesSlide9.xml" Id="R032364124ff546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c1014e18241e7" /><Relationship Type="http://schemas.openxmlformats.org/officeDocument/2006/relationships/image" Target="/ppt/media/image6.png" Id="R4f07c77bcfd744ef" /><Relationship Type="http://schemas.openxmlformats.org/officeDocument/2006/relationships/notesSlide" Target="/ppt/notesSlides/notesSlide10.xml" Id="R7a8af196e63a48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f314ac878403d" /><Relationship Type="http://schemas.openxmlformats.org/officeDocument/2006/relationships/notesSlide" Target="/ppt/notesSlides/notesSlide11.xml" Id="Rb739f628c38b402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2b30250874aae" /><Relationship Type="http://schemas.openxmlformats.org/officeDocument/2006/relationships/notesSlide" Target="/ppt/notesSlides/notesSlide12.xml" Id="R91f0c934dd3841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0A3CE-7F89-47D3-9637-90A8A2A1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RESEARCH /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C3435-A783-4AAE-BB07-2F0AA74A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함께 달리기를 말하는 방식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A2EC2-01A3-4CB0-A97F-CBF20C33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RUNMATE / COMPETITOR RESEARCH · 2026.09.30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B537A-86B8-42A3-ACFB-272A233B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D859A3-F663-43B6-9144-7A36CFC4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716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Nike Running × adidas Running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C43CF-45E8-4891-ACBC-8C911F93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10763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최근 90일 경쟁사 조사</a:t>
            </a:r>
          </a:p>
          <a:p xmlns:a="http://schemas.openxmlformats.org/drawingml/2006/main">
            <a:pPr>
              <a:defRPr sz="22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확인한 게시물 중 정확한 좋아요 수 기준 6개 분석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9D5E0-5DE9-4CB5-AA9E-C39A1974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95825"/>
            <a:ext cx="1076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기간  2026.07.02 08:42 — 09.30 08:42 KST</a:t>
            </a:r>
          </a:p>
          <a:p xmlns:a="http://schemas.openxmlformats.org/drawingml/2006/main">
            <a:pPr>
              <a:defRPr sz="180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방법  Aside 화면·DOM 직접 열람 / 계정 통합 순위</a:t>
            </a:r>
          </a:p>
          <a:p xmlns:a="http://schemas.openxmlformats.org/drawingml/2006/main">
            <a:pPr>
              <a:defRPr sz="180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목적  런메이트의 다음 카드뉴스 주제 선택</a:t>
            </a:r>
          </a:p>
        </p:txBody>
      </p:sp>
    </p:spTree>
    <p:extLst>
      <p:ext uri="{BB962C8B-B14F-4D97-AF65-F5344CB8AC3E}">
        <p14:creationId xmlns:p14="http://schemas.microsoft.com/office/powerpoint/2010/main" val="12289150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4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2B4089-0FEF-4377-8F81-60489471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READ THIS FIRST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E9E645-BD34-48B4-8A20-94EFB784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이 보고서의 순위에는 한계가 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27CFD-6A46-420B-90ED-161A8A8A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RUNMATE / COMPETITOR RESEARCH · 2026.09.30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D94F9-1C5E-41CA-905A-31D99D41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91B4D-5B82-4D37-B1F5-C822C3BA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7375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전체 인기 Top 6로 해석하지 않습니다.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F50AB5-A8B3-43E0-87F9-0896C3D0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11239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01  ‘만’ 단위 축약 수치를 정확한 정수로 바꾸지 않았습니다.</a:t>
            </a:r>
          </a:p>
          <a:p xmlns:a="http://schemas.openxmlformats.org/drawingml/2006/main">
            <a:pPr>
              <a:defRPr sz="1875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02  축약 표시 게시물은 순위에서 제외하고 출처에 따로 기록했습니다.</a:t>
            </a:r>
          </a:p>
          <a:p xmlns:a="http://schemas.openxmlformats.org/drawingml/2006/main">
            <a:pPr>
              <a:defRPr sz="1875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03  선정 목록보다 실제 좋아요가 많은 제외 게시물이 존재합니다.</a:t>
            </a:r>
          </a:p>
          <a:p xmlns:a="http://schemas.openxmlformats.org/drawingml/2006/main">
            <a:pPr>
              <a:defRPr sz="1875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04  조회수·도달·광고 집행·참여율·성과 원인은 확인되지 않았습니다.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A4BDC-2710-4622-A03B-84654ADD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0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기간 내 게시 시각 확인: Nike 27개 / adidas 67개.</a:t>
            </a:r>
          </a:p>
          <a:p xmlns:a="http://schemas.openxmlformats.org/drawingml/2006/main">
            <a:pPr>
              <a:defRPr sz="157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정확한 좋아요 확인 50개에서 6개 선정. 숨김·축약 수치의 한계는 남아 있습니다.</a:t>
            </a:r>
          </a:p>
        </p:txBody>
      </p:sp>
    </p:spTree>
    <p:extLst>
      <p:ext uri="{BB962C8B-B14F-4D97-AF65-F5344CB8AC3E}">
        <p14:creationId xmlns:p14="http://schemas.microsoft.com/office/powerpoint/2010/main" val="6040780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4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B1E708-B8DB-4D87-81C5-547BC1D7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LIMITATION / EXAMPLES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5D321B-215C-45BD-8D4E-6F6BE33E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큰 반응의 게시물도 순위에서 빠졌습니다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320C8-BBA7-4C86-845D-5CF97AF3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RUNMATE / COMPETITOR RESEARCH · 2026.09.30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26E83-763F-43B7-84E0-A651CEE6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999E1-CD9C-4680-9A65-ABC07C2B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7375"/>
            <a:ext cx="390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11.7만 표시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A76CA-4707-4ABC-9FDF-340069B1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95475"/>
            <a:ext cx="7191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정확한 정수 미확인 → 순위 제외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5FE383-7723-4785-9E7A-6E16B909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05075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a001 · adidasrunning · 게시 2026-09-22 UTC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67D1C-9A00-42A6-8F75-4822C984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57525"/>
            <a:ext cx="1123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https://www.instagram.com/adidasrunning/p/DdlQYW8DK7f/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6DB3CC-EC33-473F-A49B-9FA22BBC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390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19.3만 표시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2E6DC-F743-446C-B2D8-0A2CF652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48100"/>
            <a:ext cx="7191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정확한 정수 미확인 → 순위 제외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88279B-B4D7-43DC-B45F-0D8DCFC9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5770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a042 · adidasrunning · 게시 2026-08-23 UTC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CE8A77-4E12-45DB-89CD-B80D6F7F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1123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https://www.instagram.com/adidasrunning/p/DcYhRAzDOJA/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570817-7903-4B67-9B55-27AD54AB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15025"/>
            <a:ext cx="11287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화면의 축약값을 임의 환산하지 않았습니다. 아래 선정작을 전체 인기 순위로 사용하지 마세요.</a:t>
            </a:r>
          </a:p>
        </p:txBody>
      </p:sp>
    </p:spTree>
    <p:extLst>
      <p:ext uri="{BB962C8B-B14F-4D97-AF65-F5344CB8AC3E}">
        <p14:creationId xmlns:p14="http://schemas.microsoft.com/office/powerpoint/2010/main" val="18794255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AC13EB-D706-4F6C-B2E7-E0AD3826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OBSERVED RANKING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58989-58CE-4D55-B989-DF0EF8EE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확인한 게시물 중 좋아요 순위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80978-B344-47FB-9B7A-046CE3BA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RUNMATE / COMPETITOR RESEARCH · 2026.09.30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EB40C6-208E-4749-A52D-9D044502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8F996-38FA-4A93-AE80-190CB346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6000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F397EA-03DE-480C-8ED8-CAE5CC0E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1809750"/>
            <a:ext cx="66198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제품의 탄생 과정을 한 장면으로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03FE43-551A-4741-B38B-0E5D7B47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838325"/>
            <a:ext cx="2019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adidasrunning · a038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746A2C-FE3E-483F-BDAA-0BC2BE9B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8097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9,799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0DEF92-3FE1-49E8-BBAD-CFD7EFC2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47925"/>
            <a:ext cx="6000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DA3E35-EE4D-4639-B7C9-20F064F9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447925"/>
            <a:ext cx="66198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한 장면과 큰 이름으로 전하는 경기 결과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699D65-C112-41F4-AAD8-B001C85A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476500"/>
            <a:ext cx="2019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nikerunning · n027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94C556-13AE-4CD9-AC06-AAA72B1A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479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9,584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F4D927-B686-403A-B09F-CAADFAF7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6000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2F7980-146E-46D9-A1A3-CDEA1C10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086100"/>
            <a:ext cx="66198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기록 소식의 첫 장을 감정으로 보여주기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FE2C33-E2A7-4674-BB9B-7E9D9606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114675"/>
            <a:ext cx="2019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adidasrunning · a023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B7E225-D7A6-47DF-9298-D888299D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861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8,806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59D3F4-7D8F-454B-8220-8EA39D13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24275"/>
            <a:ext cx="6000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8DF7C8-1880-4E49-90BC-E5D94C79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24275"/>
            <a:ext cx="66198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러닝 경험을 공간으로 보여주기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AD40FD-3948-4AAC-8EA9-163C583C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752850"/>
            <a:ext cx="2019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adidasrunning · a011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976357-057B-4D2A-A625-239704B5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242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8,803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7306CF-F561-4540-8F77-E694C9F1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6000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F5A2D6-1B55-43DA-A8E3-538251EF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362450"/>
            <a:ext cx="66198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작은 디테일을 주인공으로 만들기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983EC7-B0E5-4490-8CEE-F6E60CCD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391025"/>
            <a:ext cx="2019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adidasrunning · a016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BF4A73-B669-49FA-9520-EAF0ED8D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624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8,409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98C592-E501-4E0D-B3F5-5D14FAC5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00625"/>
            <a:ext cx="6000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CFF238-C544-4021-B1DC-4E819B4A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5000625"/>
            <a:ext cx="66198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동네의 러닝을 엽서처럼 소개하기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946A46-3B32-4643-BB77-2447E899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029200"/>
            <a:ext cx="2019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adidasrunning · a060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B18024-9DBD-4E24-AF72-BA484E2D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0006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8,363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284922-3A22-4DC4-91E5-E30B4AD4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67400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조회 당시 수치 · 정확한 정수와 게시일이 확인된 후보만 비교</a:t>
            </a:r>
          </a:p>
        </p:txBody>
      </p:sp>
    </p:spTree>
    <p:extLst>
      <p:ext uri="{BB962C8B-B14F-4D97-AF65-F5344CB8AC3E}">
        <p14:creationId xmlns:p14="http://schemas.microsoft.com/office/powerpoint/2010/main" val="17973374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D9A954-32FB-4163-BBE9-8D0468BF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POST 01 / A038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F8D4F6-9D07-4A85-8D39-37E9CC5D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제품의 탄생 과정을 한 장면으로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885BE9-41AB-49A9-A263-23E0D00D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RUNMATE / COMPETITOR RESEARCH · 2026.09.30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DB4E2-3708-46F8-8F3C-4BC16379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8efcb3a4794a59"/>
          <a:stretch xmlns:a="http://schemas.openxmlformats.org/drawingml/2006/main"/>
        </p:blipFill>
        <p:spPr>
          <a:xfrm xmlns:a="http://schemas.openxmlformats.org/drawingml/2006/main">
            <a:off x="457200" y="2496925"/>
            <a:ext cx="3476625" cy="2835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B6AB4E-A652-4DBD-8164-1DBBF9E0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76212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관찰 · 핵심 내용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50337-CEEE-4E1D-8978-70C4844A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114550"/>
            <a:ext cx="7296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Agravic Speed Ultra Evo 개발 이야기를</a:t>
            </a:r>
          </a:p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제품 소개와 연결합니다.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E2F57-3396-4F19-ABE5-6B7C54B6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943225"/>
            <a:ext cx="72961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시각적 특징  첫 장: 장비에 놓인 분홍색 신발,</a:t>
            </a:r>
          </a:p>
          <a:p xmlns:a="http://schemas.openxmlformats.org/drawingml/2006/main">
            <a:pPr>
              <a:def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청록빛과 기계 프레임의 강한 대비.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CD949-DD2B-4C10-B71F-CDDEBB9F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933825"/>
            <a:ext cx="72961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해석  제품 뒤의 과정을 보여주며</a:t>
            </a:r>
          </a:p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개발 서사에 구체성을 더합니다.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1332CE-F248-44AE-BCEF-F5AE4D28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810125"/>
            <a:ext cx="7296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활용  런메이트는 허구의 기술 대신</a:t>
            </a:r>
          </a:p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함께 달리기 전의 작은 준비를 보여줍니다.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A3C131-EC16-41F1-B6E0-96617E26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695950"/>
            <a:ext cx="7296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adidasrunning / 좋아요 9,799 / 게시 2026-08-25 UTC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6EE87B-2928-4E6D-88F0-16701CE6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972175"/>
            <a:ext cx="7296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확인 2026-09-30 UTC · 날짜는 원문 time 속성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37A07E-2D87-427B-9E40-82B7F409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0077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https://www.instagram.com/adidasrunning/p/DcdsVnXDLex/</a:t>
            </a:r>
          </a:p>
        </p:txBody>
      </p:sp>
    </p:spTree>
    <p:extLst>
      <p:ext uri="{BB962C8B-B14F-4D97-AF65-F5344CB8AC3E}">
        <p14:creationId xmlns:p14="http://schemas.microsoft.com/office/powerpoint/2010/main" val="12648385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4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4CF854-1AC1-4CA1-B77F-31F318ED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POST 02 / N027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D44F5-7173-47F6-98BF-B914FD7B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한 장면과 큰 이름으로 전하는 경기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28724-9438-42C1-8758-1C8C3F61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RUNMATE / COMPETITOR RESEARCH · 2026.09.30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B981B-AC0F-480A-9B30-FFBFFF96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f7efb37f4c4817"/>
          <a:stretch xmlns:a="http://schemas.openxmlformats.org/drawingml/2006/main"/>
        </p:blipFill>
        <p:spPr>
          <a:xfrm xmlns:a="http://schemas.openxmlformats.org/drawingml/2006/main">
            <a:off x="457200" y="2496925"/>
            <a:ext cx="3476625" cy="2835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DFB46-5E87-437B-92AF-2FAE52B2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76212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관찰 · 핵심 내용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7F4CC-0330-4248-8DDE-74614E71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114550"/>
            <a:ext cx="7296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Pre Classic 선수들의 경기 결과를</a:t>
            </a:r>
          </a:p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사진과 선수명 중심으로 소개합니다.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FDEF7C-22B7-47DB-A876-F3D6D7D4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943225"/>
            <a:ext cx="72961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시각적 특징  첫 장: 모래에 착지하는 선수의 풀 사진,</a:t>
            </a:r>
          </a:p>
          <a:p xmlns:a="http://schemas.openxmlformats.org/drawingml/2006/main">
            <a:pPr>
              <a:def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큰 흰색 이름과 작은 종목명.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8A84E2-4A4B-44FD-8520-268A49EB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933825"/>
            <a:ext cx="72961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해석  동작과 이름의 위계가 한눈에</a:t>
            </a:r>
          </a:p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주인공을 알아보게 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D503C5-7FF5-4B45-AC97-387591F9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810125"/>
            <a:ext cx="7296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활용  승리·기록 대신 함께 달리는 장면에</a:t>
            </a:r>
          </a:p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짧은 공감 문장 하나를 배치합니다.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02ED14-E726-40BE-B135-8A5FE9BD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695950"/>
            <a:ext cx="7296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nikerunning / 좋아요 9,584 / 게시 2026-07-05 UTC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136505-1449-4198-9236-371C6D1C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972175"/>
            <a:ext cx="7296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확인 2026-09-29 UTC · 날짜는 원문 time 속성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A2A58A-CDAF-4C84-97DD-A124B45E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0077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https://www.instagram.com/nikerunning/p/DaZjf1jlbby/</a:t>
            </a:r>
          </a:p>
        </p:txBody>
      </p:sp>
    </p:spTree>
    <p:extLst>
      <p:ext uri="{BB962C8B-B14F-4D97-AF65-F5344CB8AC3E}">
        <p14:creationId xmlns:p14="http://schemas.microsoft.com/office/powerpoint/2010/main" val="20905325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13D11A-247A-465C-8630-021790DA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POST 03 / A023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9B83D-06E9-4791-B209-8CFD0C63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기록 소식의 첫 장을 감정으로 보여주기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F352E-0F91-43A7-9C16-433301D9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RUNMATE / COMPETITOR RESEARCH · 2026.09.30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659C4-DDC1-4993-AF02-D27E5A53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44544ce6414e4a"/>
          <a:stretch xmlns:a="http://schemas.openxmlformats.org/drawingml/2006/main"/>
        </p:blipFill>
        <p:spPr>
          <a:xfrm xmlns:a="http://schemas.openxmlformats.org/drawingml/2006/main">
            <a:off x="457200" y="2496925"/>
            <a:ext cx="3476625" cy="2835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26E69-E4C2-454C-BA43-C32370CB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76212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관찰 · 핵심 내용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F6759-1111-4C3C-B41A-A0EAE08B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114550"/>
            <a:ext cx="7296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캡션은 Agnes Ngetich의 하프마라톤</a:t>
            </a:r>
          </a:p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기록 소식을 전합니다.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E91C9-DC11-463B-B881-52FB71B6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943225"/>
            <a:ext cx="72961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시각적 특징  얼굴과 두 손을 크게 크롭한 사진,</a:t>
            </a:r>
          </a:p>
          <a:p xmlns:a="http://schemas.openxmlformats.org/drawingml/2006/main">
            <a:pPr>
              <a:def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넓은 자간의 흰색 세리프 제목.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CE324-EB9F-48BC-A00F-DD4192E7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933825"/>
            <a:ext cx="72961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해석  숫자보다 인물의 표정이 먼저 보여</a:t>
            </a:r>
          </a:p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소식에 감정을 붙이는 구성입니다.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2630E-A5DF-4FDC-8A3D-831FC15F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810125"/>
            <a:ext cx="7296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활용  완주 성과를 보장하지 않고, 함께 달린</a:t>
            </a:r>
          </a:p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뒤 웃는 순간을 새 사진으로 보여줍니다.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EE0983-C916-4E0C-B301-36C39D82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695950"/>
            <a:ext cx="7296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adidasrunning / 좋아요 8,806 / 게시 2026-09-20 UTC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1A8F59-9F31-49A5-A9C3-930C9548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972175"/>
            <a:ext cx="7296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확인 2026-09-29 UTC · 날짜는 원문 time 속성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9F64F8-4F73-47D8-A632-8E3FA56F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0077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https://www.instagram.com/adidasrunning/p/DdgQbnSjCBY/</a:t>
            </a:r>
          </a:p>
        </p:txBody>
      </p:sp>
    </p:spTree>
    <p:extLst>
      <p:ext uri="{BB962C8B-B14F-4D97-AF65-F5344CB8AC3E}">
        <p14:creationId xmlns:p14="http://schemas.microsoft.com/office/powerpoint/2010/main" val="18536127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C7BAAA-6EB5-42CF-8450-1D8B2386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POST 04 / A011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B10B5-0CB3-4159-B407-92687EED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러닝 경험을 공간으로 보여주기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43F5F-5BB3-42BC-B25D-2DC22736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RUNMATE / COMPETITOR RESEARCH · 2026.09.30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6FBAB-23EB-409E-A28A-45087423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de4248feed4c1a"/>
          <a:stretch xmlns:a="http://schemas.openxmlformats.org/drawingml/2006/main"/>
        </p:blipFill>
        <p:spPr>
          <a:xfrm xmlns:a="http://schemas.openxmlformats.org/drawingml/2006/main">
            <a:off x="457200" y="2496925"/>
            <a:ext cx="3476625" cy="2835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F04F54-79EF-4EEB-BB68-26D91672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76212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관찰 · 핵심 내용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5391FF-925D-4AEA-92A1-7E9A4676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114550"/>
            <a:ext cx="7296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베를린 Home of Fast 전시 공간과</a:t>
            </a:r>
          </a:p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제품을 소개합니다.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964D99-132D-429A-8426-1EF0E5EA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943225"/>
            <a:ext cx="72961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시각적 특징  분홍·파랑 공간 속 붉은 신발 한 켤레,</a:t>
            </a:r>
          </a:p>
          <a:p xmlns:a="http://schemas.openxmlformats.org/drawingml/2006/main">
            <a:pPr>
              <a:def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중앙 진열대와 위쪽 로고.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5C7FDF-5E05-414C-BD1F-B2A763C4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933825"/>
            <a:ext cx="72961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해석  공간 전체의 색과 중심 피사체가</a:t>
            </a:r>
          </a:p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현장에 들어온 느낌을 만듭니다.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6AA9B-843E-4EAF-BCF0-D119B929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810125"/>
            <a:ext cx="7296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활용  동네 러닝 장소가 보이는 넓은 장면을</a:t>
            </a:r>
          </a:p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쓰되, 실제 운영 장소처럼 주장하지 않습니다.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54C10D-EABC-4A0D-943C-088C5383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695950"/>
            <a:ext cx="7296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adidasrunning / 좋아요 8,803 / 게시 2026-09-26 UTC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77AB05-A708-4196-A2AB-428A2DD7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972175"/>
            <a:ext cx="7296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확인 2026-09-29 UTC · 날짜는 원문 time 속성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805373-73E0-41B3-A303-A5298A8A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0077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https://www.instagram.com/adidasrunning/p/DdwfExQDHzk/</a:t>
            </a:r>
          </a:p>
        </p:txBody>
      </p:sp>
    </p:spTree>
    <p:extLst>
      <p:ext uri="{BB962C8B-B14F-4D97-AF65-F5344CB8AC3E}">
        <p14:creationId xmlns:p14="http://schemas.microsoft.com/office/powerpoint/2010/main" val="8655854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4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142FE6-5EBE-4E62-8218-7D34BCEF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POST 05 / A016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0291B4-69BA-430F-84A7-917C2510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작은 디테일을 주인공으로 만들기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D0253-F479-447B-B835-D4EF3EFA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RUNMATE / COMPETITOR RESEARCH · 2026.09.30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2129A-CBF7-4CA7-92B2-1180F036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0b2e6e67fa4aaf"/>
          <a:stretch xmlns:a="http://schemas.openxmlformats.org/drawingml/2006/main"/>
        </p:blipFill>
        <p:spPr>
          <a:xfrm xmlns:a="http://schemas.openxmlformats.org/drawingml/2006/main">
            <a:off x="457200" y="2496925"/>
            <a:ext cx="3476625" cy="2835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5EBEA-D5EF-4E9C-84A4-20BBC907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76212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관찰 · 핵심 내용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31E29C-D168-456B-9D25-EED612FA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114550"/>
            <a:ext cx="7296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Adios Pro 5의 세부 요소를</a:t>
            </a:r>
          </a:p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강조하는 제품 릴스입니다.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2043F-C6ED-4E9A-A051-B8EE970C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943225"/>
            <a:ext cx="72961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시각적 특징  확인한 장면: 밝은 배경 위 손과</a:t>
            </a:r>
          </a:p>
          <a:p xmlns:a="http://schemas.openxmlformats.org/drawingml/2006/main">
            <a:pPr>
              <a:def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신발 안쪽의 근접 촬영.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8CF56-C8A1-4580-8186-A914CCFA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933825"/>
            <a:ext cx="72961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해석  주변 정보를 덜어내 제품 디테일에</a:t>
            </a:r>
          </a:p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시선이 머물게 하는 방식입니다.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8AEDF8-3B11-4CF4-9924-FCE02D7F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810125"/>
            <a:ext cx="7296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활용  신발·보폭의 신규 디테일 컷으로</a:t>
            </a:r>
          </a:p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편안하게 맞춰 달리는 순간을 표현합니다.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285519-53CC-4413-AACD-9E2765DA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695950"/>
            <a:ext cx="7296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adidasrunning / 좋아요 8,409 / 게시 2026-09-24 UTC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BF20C7-50EE-47E8-9BA0-A5B97403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972175"/>
            <a:ext cx="7296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확인 2026-09-29 UTC · 날짜는 원문 time 속성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7778BC-62A6-445C-8A94-499DF9FE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0077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https://www.instagram.com/adidasrunning/reel/DdqgtSCsM7Y/</a:t>
            </a:r>
          </a:p>
        </p:txBody>
      </p:sp>
    </p:spTree>
    <p:extLst>
      <p:ext uri="{BB962C8B-B14F-4D97-AF65-F5344CB8AC3E}">
        <p14:creationId xmlns:p14="http://schemas.microsoft.com/office/powerpoint/2010/main" val="4160641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4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00DB8F-FD4E-4E98-A1BE-C899C921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POST 06 / A060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34D57-846D-47A4-8EC4-5626F400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동네의 러닝을 엽서처럼 소개하기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F6539-3D71-40FE-8FE8-D966504C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RUNMATE / COMPETITOR RESEARCH · 2026.09.30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2E87D1-2538-4DDC-B28E-EF7CEA1B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7c77bcfd744ef"/>
          <a:stretch xmlns:a="http://schemas.openxmlformats.org/drawingml/2006/main"/>
        </p:blipFill>
        <p:spPr>
          <a:xfrm xmlns:a="http://schemas.openxmlformats.org/drawingml/2006/main">
            <a:off x="457200" y="2496925"/>
            <a:ext cx="3476625" cy="2835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32CC6-EAEA-4722-841B-7BBA5FC1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76212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관찰 · 핵심 내용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0F5DE-8C75-4B82-9CEF-A70EE07B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114550"/>
            <a:ext cx="7296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LA 러닝 장면을 엽서 형식으로 묶어</a:t>
            </a:r>
          </a:p>
          <a:p xmlns:a="http://schemas.openxmlformats.org/drawingml/2006/main">
            <a:pPr>
              <a:def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Hyperboost 제품군을 소개합니다.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FECC9-258E-4DBE-B33B-40FA7C0D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943225"/>
            <a:ext cx="72961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시각적 특징  첫 장: 하늘을 배경으로 올려다본 러너,</a:t>
            </a:r>
          </a:p>
          <a:p xmlns:a="http://schemas.openxmlformats.org/drawingml/2006/main">
            <a:pPr>
              <a:def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전경의 신발과 상단의 도시명.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82637-BE82-4790-902B-3181D0A2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933825"/>
            <a:ext cx="72961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해석  장소와 관점이 제품 소개를</a:t>
            </a:r>
          </a:p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하나의 러닝 장면으로 바꿉니다.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570076-8B17-4B36-B4B4-90F93B6F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810125"/>
            <a:ext cx="7296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활용  익숙한 동네와 동행의 장면을 연결하되</a:t>
            </a:r>
          </a:p>
          <a:p xmlns:a="http://schemas.openxmlformats.org/drawingml/2006/main">
            <a:pPr>
              <a:def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도시명·운영 지역을 임의로 붙이지 않습니다.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75D6F0-A057-48FE-BFF1-CBF9DF84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695950"/>
            <a:ext cx="7296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adidasrunning / 좋아요 8,363 / 게시 2026-07-21 UTC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65AA49-5DF7-4835-A2DA-A4E195B0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972175"/>
            <a:ext cx="7296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확인 2026-09-30 UTC · 날짜는 원문 time 속성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CC7AF8-310A-4886-B64A-C9A9F0F3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0077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https://www.instagram.com/adidasrunning/p/DbDKXpTjKdr/</a:t>
            </a:r>
          </a:p>
        </p:txBody>
      </p:sp>
    </p:spTree>
    <p:extLst>
      <p:ext uri="{BB962C8B-B14F-4D97-AF65-F5344CB8AC3E}">
        <p14:creationId xmlns:p14="http://schemas.microsoft.com/office/powerpoint/2010/main" val="1250286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4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D562E6-429D-48D8-8EEB-90E6F143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C640C-364F-439D-B824-B0C9250F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경쟁사의 성과보다 전달 방식을 가져옵니다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1565E8-EF4B-4076-AE7A-997651E1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RUNMATE / COMPETITOR RESEARCH · 2026.09.30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85B89-CF94-4747-B238-B16F583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140A38-5488-4E4B-9F94-B536C02F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한 장면 + 한 문장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722B9-45A4-4E42-A624-9B2419CC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선수·제품·공간을 중심에 두고 짧은 문구로 읽는 순서를 만듭니다.</a:t>
            </a:r>
          </a:p>
          <a:p xmlns:a="http://schemas.openxmlformats.org/drawingml/2006/main">
            <a:pPr>
              <a:defRPr sz="2025" b="0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런메이트에서는 평범한 동행 장면과 일상어로 전환할 수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3FF7CC-7F17-4E1E-89A3-8A8955C7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48125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브랜드 기준이 사진 스타일의 우선순위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B819DD-2832-4924-87D3-CC6AFFA7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33925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경쟁사의 승리·속도·제품 효능은 런메이트의 약속으로 옮기지 않습니다.</a:t>
            </a:r>
          </a:p>
          <a:p xmlns:a="http://schemas.openxmlformats.org/drawingml/2006/main">
            <a:pPr>
              <a:defRPr sz="20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신규 사진은 brand.md와 content-design.md의 편안한 동행을 따릅니다.</a:t>
            </a:r>
          </a:p>
        </p:txBody>
      </p:sp>
    </p:spTree>
    <p:extLst>
      <p:ext uri="{BB962C8B-B14F-4D97-AF65-F5344CB8AC3E}">
        <p14:creationId xmlns:p14="http://schemas.microsoft.com/office/powerpoint/2010/main" val="15896613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4C469A-5D5B-4F6D-98C5-0D35E984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NEXT / SELECT A TOPIC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A0B07-D208-46A5-B29A-9DB307F0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다음 콘텐츠 주제 후보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AC4D80-C608-4A02-B646-6005E14E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RUNMATE / COMPETITOR RESEARCH · 2026.09.30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B84FDB-8C72-4E20-9228-E5898B1B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390F7-55F6-4CB7-BECB-4A63E36A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6212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01  추천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BC9904-2A07-4EB4-957A-C04CA108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62125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함께 달려도, 내 페이스는 그대로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B45309-B6FB-447C-8600-1219DC18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33625"/>
            <a:ext cx="942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대상: 다른 사람의 속도를 따라가는 것이 부담스러운 사람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9F7A8-52F6-4A8F-98E3-BE409EF7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242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38E7B6-50A0-4128-B423-7EA4F4D5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2420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혼자 달리기 심심한 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3F34E7-8C3F-4956-B540-C8C575CF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95700"/>
            <a:ext cx="942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대상: 혼자 달리는 것이 심심한 러너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02325-4C15-435A-BFAB-7D3AEEEE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862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865FB6-DDC2-425B-8903-D91A0948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86275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7F8F3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F7F8F3"/>
                </a:solidFill>
                <a:latin typeface="Pretendard"/>
                <a:ea typeface="Pretendard"/>
                <a:cs typeface="Pretendard"/>
              </a:rPr>
              <a:t>멀리 가지 않아도, 함께 달릴 수 있어요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301134-9951-46DB-8004-40FA82C6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057775"/>
            <a:ext cx="942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2C8BE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C2C8BE"/>
                </a:solidFill>
                <a:latin typeface="Pretendard"/>
                <a:ea typeface="Pretendard"/>
                <a:cs typeface="Pretendard"/>
              </a:rPr>
              <a:t>대상: 동네에서 가볍게 시작하고 싶은 사람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99428A-FDB2-4F35-BCE5-5E7BDA4F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72175"/>
            <a:ext cx="1128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6FF6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E6FF65"/>
                </a:solidFill>
                <a:latin typeface="Pretendard"/>
                <a:ea typeface="Pretendard"/>
                <a:cs typeface="Pretendard"/>
              </a:rPr>
              <a:t>주제 선택 → plan.md 제시 → 기획 승인 → 신규 사진·HTML → 프리뷰 승인 → Figma</a:t>
            </a:r>
          </a:p>
        </p:txBody>
      </p:sp>
    </p:spTree>
    <p:extLst>
      <p:ext uri="{BB962C8B-B14F-4D97-AF65-F5344CB8AC3E}">
        <p14:creationId xmlns:p14="http://schemas.microsoft.com/office/powerpoint/2010/main" val="20188923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2026-09-30T00:08:41.4830000Z</dcterms:created>
  <dcterms:modified xsi:type="dcterms:W3CDTF">2026-09-30T00:08:41.4830000Z</dcterms:modified>
</coreProperties>
</file>